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420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3420000"/>
          </a:xfrm>
          <a:prstGeom prst="rect">
            <a:avLst/>
          </a:prstGeom>
          <a:solidFill>
            <a:srgbClr val="284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90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智审通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CFF"/>
                </a:solidFill>
                <a:latin typeface="Arial"/>
              </a:defRPr>
            </a:pPr>
            <a:r>
              <a:t>面向高校行政事务的 Human-in-the-Loop 智能审批系统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700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AADD"/>
                </a:solidFill>
                <a:latin typeface="Arial"/>
              </a:defRPr>
            </a:pPr>
            <a:r>
              <a:t>校园事务办理 · 智能填表 · 政策合规 · 人机协同审批 · AI 分层路由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988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CC"/>
                </a:solidFill>
                <a:latin typeface="Arial"/>
              </a:defRPr>
            </a:pPr>
            <a:r>
              <a:t>FastAPI · React 18 · RAG · Qwen3-14B · OCR · LangGraph · Redis · SQLAlchemy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100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F3A93"/>
                </a:solidFill>
                <a:latin typeface="Arial"/>
              </a:defRPr>
            </a:pPr>
            <a:r>
              <a:t>系统概述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6B7A90"/>
                </a:solidFill>
                <a:latin typeface="Arial"/>
              </a:defRPr>
            </a:pPr>
            <a:r>
              <a:t>智审通是将 AI 嵌入高校行政审批全流程的智能系统。通过自然语言表单预填、OCR 材料识别、RAG 政策检索、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B7A90"/>
                </a:solidFill>
                <a:latin typeface="Arial"/>
              </a:defRPr>
            </a:pPr>
            <a:r>
              <a:t>本地与云端模型分层协作，为申请人提供智能填表与合规自查，为审批人提供政策依据与决策辅助。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7C6BFF"/>
                </a:solidFill>
                <a:latin typeface="Arial"/>
              </a:defRPr>
            </a:pPr>
            <a:r>
              <a:t>核心原则：AI 提供证据和建议，人保留最终审批权。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📸 证据：01_login_light.png — 真实系统登录页（玻璃拟态）· 系统已启动运行验证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本页主要得分点：演示效果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高校事务办理的结构性问题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传统线上办事系统只把纸质表单搬到网页上，并未降低信息理解成本和审核成本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600000" cy="30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8000" y="1368000"/>
            <a:ext cx="144000" cy="21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👨‍🎓 申请人的困境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999" y="172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事务类型复杂：请假/报销/用章/场地/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999" y="1890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车辆/社团等十余种流程并存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999" y="2052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信息成本高：不清楚填报字段要求、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2214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材料清单和政策依据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2376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单次申请平均耗时超 30 分钟，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253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退回修改率超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2000" y="1260000"/>
            <a:ext cx="3600000" cy="30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0000" y="1368000"/>
            <a:ext cx="144000" cy="2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👤 审批人的负担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999" y="172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需手工核查材料、查阅制度、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999" y="1890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撰写审批意见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999" y="2052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高峰期日均处理 20+ 条申请，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3999" y="2214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重复性审核占用专业判断时间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999" y="2376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缺少统一的政策检索入口，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999" y="253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依赖个人经验判断合规性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3999" y="1260000"/>
            <a:ext cx="3600000" cy="30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51999" y="1368000"/>
            <a:ext cx="144000" cy="216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3999" y="14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🏫 学校管理者的挑战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5998" y="172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多角色多部门审批流程缺乏统一建模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5998" y="1890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跨校区事务管理边界模糊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5998" y="2052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审批效率与合规性难以量化评估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5998" y="2214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信息安全与责任归属需要制度保障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5998" y="2376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AI 不宜直接替代行政审批决策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5998" y="2538000"/>
            <a:ext cx="31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需要可追溯、可解释的人机协同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0000" y="4608000"/>
            <a:ext cx="11160000" cy="126000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000" y="475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⚠ 核心缺口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B7A90"/>
                </a:solidFill>
                <a:latin typeface="Arial"/>
              </a:defRPr>
            </a:pPr>
            <a:r>
              <a:t>现有 OA 系统缺少面向审批流程的 AI 辅助能力：填表靠手工、合规靠经验、政策靠记忆、决策缺依据。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F3A93"/>
                </a:solidFill>
                <a:latin typeface="Arial"/>
              </a:defRPr>
            </a:pPr>
            <a:r>
              <a:t>本系统的目标不是「AI 自动审批」，而是将 AI 嵌入填表→检索→合规→决策辅助的完整链路，降低全流程的信息摩擦。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代码证据：templates.json (19类审批模板) · models.py (16张表) · 基于山东科技大学实际事务流程调研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本页主要得分点：应用价值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AI 辅助流程，人保留最终决策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核心设计原则：Human-in-the-Loop — AI 做材料理解、政策检索和风险提示，人不放弃行政决定权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600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260000"/>
            <a:ext cx="3600000" cy="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404000"/>
            <a:ext cx="30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F6BFF"/>
                </a:solidFill>
                <a:latin typeface="Arial"/>
              </a:defRPr>
            </a:pPr>
            <a:r>
              <a:t>👨‍🎓 对申请人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1800000"/>
            <a:ext cx="30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自然语言描述或材料上传</a:t>
            </a:r>
            <a:br/>
            <a:r>
              <a:t>AI 自动识别事项并预填表单</a:t>
            </a:r>
            <a:br/>
            <a:r>
              <a:t>提交前合规自查</a:t>
            </a:r>
            <a:br/>
            <a:r>
              <a:t>降低退回率与反复修改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000" y="1260000"/>
            <a:ext cx="3600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2000" y="1260000"/>
            <a:ext cx="3600000" cy="288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0" y="1404000"/>
            <a:ext cx="30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6BFF"/>
                </a:solidFill>
                <a:latin typeface="Arial"/>
              </a:defRPr>
            </a:pPr>
            <a:r>
              <a:t>👤 对审批人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1800000"/>
            <a:ext cx="30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AI 检索政策依据</a:t>
            </a:r>
            <a:br/>
            <a:r>
              <a:t>生成风险分析与缺失项标记</a:t>
            </a:r>
            <a:br/>
            <a:r>
              <a:t>提供意见草稿</a:t>
            </a:r>
            <a:br/>
            <a:r>
              <a:t>审批人做最终行政决策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3999" y="1260000"/>
            <a:ext cx="3600000" cy="2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3999" y="1260000"/>
            <a:ext cx="3600000" cy="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999" y="1404000"/>
            <a:ext cx="30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🏫 对学校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999" y="1800000"/>
            <a:ext cx="30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统一多角色多阶段多资源体系</a:t>
            </a:r>
            <a:br/>
            <a:r>
              <a:t>跨学校边界管理</a:t>
            </a:r>
            <a:br/>
            <a:r>
              <a:t>统一通知与监控</a:t>
            </a:r>
            <a:br/>
            <a:r>
              <a:t>量化评估审批效率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4248000"/>
            <a:ext cx="11160000" cy="79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4320000"/>
            <a:ext cx="10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F3A93"/>
                </a:solidFill>
                <a:latin typeface="Arial"/>
              </a:defRPr>
            </a:pPr>
            <a:r>
              <a:t>🎯 核心原则：AI 提供证据和建议 → 人负责最终审批 → 状态可追踪 → 依据可追溯 → 责任可界定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B7A90"/>
                </a:solidFill>
                <a:latin typeface="Arial"/>
              </a:defRPr>
            </a:pPr>
            <a:r>
              <a:t>五个审批状态：pending → approved / rejected / needs_revision / withdrawn / cancelled · 阶段历史完整记录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5220000"/>
            <a:ext cx="2520000" cy="432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0000" y="5292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1999" y="5220000"/>
            <a:ext cx="2520000" cy="432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辅助层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1999" y="5292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3999" y="5220000"/>
            <a:ext cx="2520000" cy="432000"/>
          </a:xfrm>
          <a:prstGeom prst="round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人工审批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3999" y="5292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96000" y="5220000"/>
            <a:ext cx="2520000" cy="432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通知归档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代码证据：approval_service.py (LangGraph状态机) · rag_router.py (7个AI端点) · workflow.py (19类流程定义)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本页主要得分点：创新性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从单点工具到完整平台的系统架构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不是只调用大模型的 Demo，而是包含用户/权限/审批流/通知/资源/监控/日志/模型服务的完整事务平台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152000"/>
            <a:ext cx="43200" cy="64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18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6BFF"/>
                </a:solidFill>
                <a:latin typeface="Arial"/>
              </a:defRPr>
            </a:pPr>
            <a: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118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React 18 + TypeScript · 玻璃拟态设计系统 · 19 条路由 · 5 角色导航 · 7 个核心组件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7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72000"/>
            <a:ext cx="43200" cy="64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90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6BFF"/>
                </a:solidFill>
                <a:latin typeface="Arial"/>
              </a:defRPr>
            </a:pPr>
            <a:r>
              <a:t>API 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190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FastAPI · 14 个 Router 模块 · 99 个 API 端点 · JWT 认证中间件 · CORS · 请求日志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1764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F6BFF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259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0000" y="2592000"/>
            <a:ext cx="43200" cy="64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262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6BFF"/>
                </a:solidFill>
                <a:latin typeface="Arial"/>
              </a:defRPr>
            </a:pPr>
            <a:r>
              <a:t>业务服务层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262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11 个 Service 模块 · SQLAlchemy ORM · LangGraph 状态机 · 事务管理 · 分层架构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0" y="2484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F6BFF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331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312000"/>
            <a:ext cx="43200" cy="6480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334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6BFF"/>
                </a:solidFill>
                <a:latin typeface="Arial"/>
              </a:defRPr>
            </a:pPr>
            <a:r>
              <a:t>AI 智能层 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00" y="334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云端 LLM(语义抽取+多模态OCR) · 本地Qwen3-14B(合规分析) · RAG(TF-IDF) · 规则引擎(兜底) · MLX LoRA训练管线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3204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F6BFF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03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000" y="4032000"/>
            <a:ext cx="43200" cy="64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406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6BFF"/>
                </a:solidFill>
                <a:latin typeface="Arial"/>
              </a:defRPr>
            </a:pPr>
            <a:r>
              <a:t>数据持久层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000" y="406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SQLite / PostgreSQL · 16 张核心表 — users, approval_records, notifications, api_keys, audit_logs...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0" y="3924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F6BFF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4752000"/>
            <a:ext cx="1116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0000" y="4752000"/>
            <a:ext cx="43200" cy="64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4788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Arial"/>
              </a:defRPr>
            </a:pPr>
            <a:r>
              <a:t>缓存与基础设施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0000" y="4788000"/>
            <a:ext cx="88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Redis 缓存 · 限流 · Key 池原子计数 · 健康检查 · 结构化日志 · 一键启停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0" y="4644000"/>
            <a:ext cx="72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F6BFF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0000" y="5688000"/>
            <a:ext cx="11160000" cy="432000"/>
          </a:xfrm>
          <a:prstGeom prst="round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000" y="5760000"/>
            <a:ext cx="10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rial"/>
              </a:defRPr>
            </a:pPr>
            <a:r>
              <a:t>贯穿全栈：安全（JWT+bcrypt+Fernet+MIME校验+软删除）· 降级（云端→本地→规则三层）· 监控（概览/日志/错误三面板）· 多学校 Tenant 隔离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代码证据：main.py(106路由) · models.py(16表) · 14个router文件 · 11个service文件 · 总计~17,000行代码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本页主要得分点：技术深度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端到端审批业务流：从一句话到审批归档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学生输入自然语言 → AI 识别 → 字段预填 → 合规自查 → 提交 → AI 辅助审批 → 人工决策 → 通知归档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260000"/>
            <a:ext cx="1872000" cy="1260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9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① 学生输入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「我导师叫我去滨州</a:t>
            </a:r>
            <a:br/>
            <a:r>
              <a:t>调研，明后两天不在</a:t>
            </a:r>
            <a:br/>
            <a:r>
              <a:t>学校，坐长途汽车去</a:t>
            </a:r>
            <a:br/>
            <a:r>
              <a:t>帮我请个假」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8000" y="1260000"/>
            <a:ext cx="1872000" cy="1260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37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② AI 意图识别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云端 LLM 语义分析</a:t>
            </a:r>
            <a:br/>
            <a:r>
              <a:t>→ 请假申请</a:t>
            </a:r>
            <a:br/>
            <a:r>
              <a:t>置信度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6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8000" y="1260000"/>
            <a:ext cx="1872000" cy="1260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5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③ 字段抽取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预填 12 个字段</a:t>
            </a:r>
            <a:br/>
            <a:r>
              <a:t>时间/地点/事由</a:t>
            </a:r>
            <a:br/>
            <a:r>
              <a:t>交通/请假类型…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1260000"/>
            <a:ext cx="1872000" cy="126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3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④ 合规自查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RAG 检索 4 条政策</a:t>
            </a:r>
            <a:br/>
            <a:r>
              <a:t>→ 低风险</a:t>
            </a:r>
            <a:br/>
            <a:r>
              <a:t>→ 基本合规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6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8000" y="1260000"/>
            <a:ext cx="1872000" cy="1260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1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⑤ 提交审批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创建审批记录</a:t>
            </a:r>
            <a:br/>
            <a:r>
              <a:t>pending 状态</a:t>
            </a:r>
            <a:br/>
            <a:r>
              <a:t>部门→财务→学校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6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88000" y="1260000"/>
            <a:ext cx="1872000" cy="1260000"/>
          </a:xfrm>
          <a:prstGeom prst="round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296000" y="1332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⑥ 人工审批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6000" y="172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EEEFF"/>
                </a:solidFill>
                <a:latin typeface="Arial"/>
              </a:defRPr>
            </a:pPr>
            <a:r>
              <a:t>AI 辅助面板</a:t>
            </a:r>
            <a:br/>
            <a:r>
              <a:t>合规分析+案例</a:t>
            </a:r>
            <a:br/>
            <a:r>
              <a:t>→ 通过/驳回/修改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2808000"/>
            <a:ext cx="11160000" cy="18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2880000"/>
            <a:ext cx="10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3A93"/>
                </a:solidFill>
                <a:latin typeface="Arial"/>
              </a:defRPr>
            </a:pPr>
            <a:r>
              <a:t>📸 真实系统验证 — 以下数据来自系统实际运行截图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00" y="3168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rial"/>
              </a:defRPr>
            </a:pPr>
            <a:r>
              <a:t>📝 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0000" y="3168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「我导师叫我去滨州调研，我明后两天都不在学校，我坐长途汽车去，帮我请个假」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3564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rial"/>
              </a:defRPr>
            </a:pPr>
            <a:r>
              <a:t>✅ 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80000" y="3564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12 字段预填：请假类型=公假 · 去向=滨州 · 交通=长途汽车 · 时间=2026-06-05/06 · 辅导员=李芳 · 置信度 60%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" y="396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rial"/>
              </a:defRPr>
            </a:pPr>
            <a:r>
              <a:t>⚖️ 合规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0000" y="3960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RAG 检索匹配 4 条政策条文 · 风险等级：低 · ✅请假事由已填写 · ⚠辅导员信息待补充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" y="4356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Arial"/>
              </a:defRPr>
            </a:pPr>
            <a:r>
              <a:t>📋 截图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80000" y="4356000"/>
            <a:ext cx="9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02_workbench_nl_prefill.png → 工作台预填结果 · 04_dept_ai_review.png → 审批AI面板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0000" y="4860000"/>
            <a:ext cx="11160000" cy="64800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000" y="4932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F3A93"/>
                </a:solidFill>
                <a:latin typeface="Arial"/>
              </a:defRPr>
            </a:pPr>
            <a:r>
              <a:t>💡 这是本项目的核心竞争力：不是「有 AI 功能」，而是 AI 深度嵌入审批全流程——填表→检索→合规→决策辅助→归档，每个环节有代码、有截图、可演示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📸 截图：02_workbench_nl_prefill.png · 后端：rag_service.py(420行) + ocr_service.py + rule_engine.py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本页主要得分点：创新性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AI 分层路由：按任务特性选择模型能力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云端做「理解」· 本地做「判断」· 规则做「兜底」——任一环节故障不影响核心审批流程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600000" cy="288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6BFF"/>
                </a:solidFill>
                <a:latin typeface="Arial"/>
              </a:defRPr>
            </a:pPr>
            <a:r>
              <a:t>☁️ 云端层（复杂语义）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自然语言意图识别：qwen-turbo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多模态 OCR：qwen-vl-max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字段抽取 + JSON 填充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降级：API 不可用→规则兜底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适用：Pro 学校 (30次/月配额)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2000" y="1260000"/>
            <a:ext cx="3600000" cy="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0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6BFF"/>
                </a:solidFill>
                <a:latin typeface="Arial"/>
              </a:defRPr>
            </a:pPr>
            <a:r>
              <a:t>🖥️ 本地层（隐私+离线）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RAG 政策检索：TF-IDF n-gram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合规分析：Qwen3-14B GGUF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EasyOCR 降级识别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MLX LoRA 训练→融合→GGUF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000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数据不出服务器，隐私可控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3999" y="1260000"/>
            <a:ext cx="3600000" cy="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999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🛡️ 规则兜底（确定性）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999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硬性规则：必填/范围/查重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999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正则兜底：明天/后天→日期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999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金额阈值自动跳过审批阶段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1999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API Key 池故障自动转移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999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零延迟 · 100%确定性 · 不可绕过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780000"/>
            <a:ext cx="11160000" cy="12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000" y="3888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3A93"/>
                </a:solidFill>
                <a:latin typeface="Arial"/>
              </a:defRPr>
            </a:pPr>
            <a:r>
              <a:t>🔬 技术决策证据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TF-IDF 而非向量数据库：政策条文&lt;100条，字符级n-gram匹配更精准，零GPU依赖，冷启动&lt;1s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本地 14B 而非纯云端：审批数据含身份证/银行卡号，绝不出校园网络；云端宕机时本地接管RAG和政策问答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三层降级非串行冗余：每一层各司其职——云端做高价值语义任务、本地做可控敏感分析、规则做确定性兜底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LoRA 微调仅需 100 条语料：847KB 权重，Apple Silicon 上 20 分钟训练，即可提升校内特有审批类别识别率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代码：rag_service.py(TF-IDF) · ocr_service.py(4级降级) · key_pool.py(故障转移) · train_lora_mlx.py(LoRA)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本页主要得分点：技术深度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Human-in-the-Loop：可解释的人机协同审批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AI 负责信息处理与建议生成 → 证据层提供可追溯依据 → 人负责最终行政决策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3671999" cy="288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6BFF"/>
                </a:solidFill>
                <a:latin typeface="Arial"/>
              </a:defRPr>
            </a:pPr>
            <a:r>
              <a:t>🤖 AI 辅助层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OCR 材料识别与字段填充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RAG 政策条文检索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逐项合规分析与风险判定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意见草稿自动生成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相似案例推荐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71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F4444"/>
                </a:solidFill>
                <a:latin typeface="Arial"/>
              </a:defRPr>
            </a:pPr>
            <a:r>
              <a:t>• ⚠ AI 不拥有审批权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3999" y="1260000"/>
            <a:ext cx="3671999" cy="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1999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📋 Evidence 证据层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1999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政策依据原文引用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1999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2C55E"/>
                </a:solidFill>
                <a:latin typeface="Arial"/>
              </a:defRPr>
            </a:pPr>
            <a:r>
              <a:t>• 逐项检查（通过/警告/不通过）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1999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风险等级可视化（高/中/低）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1999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推荐动作按钮高亮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1999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所有输出可追溯可核查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1999" y="271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审批人可核实每条依据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5999" y="1260000"/>
            <a:ext cx="3671999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3999" y="136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93"/>
                </a:solidFill>
                <a:latin typeface="Arial"/>
              </a:defRPr>
            </a:pPr>
            <a:r>
              <a:t>👤 Human 决策层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3999" y="172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2C55E"/>
                </a:solidFill>
                <a:latin typeface="Arial"/>
              </a:defRPr>
            </a:pPr>
            <a:r>
              <a:t>• ✅ 通过：AI 辅助确认合规后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3999" y="1926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🔄 需修改：附带缺失项标记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999" y="2124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F4444"/>
                </a:solidFill>
                <a:latin typeface="Arial"/>
              </a:defRPr>
            </a:pPr>
            <a:r>
              <a:t>• ❌ 驳回：AI 标注不合规证据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999" y="2322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最终决定权始终在人手中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3999" y="2520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可无视 AI 建议独立决策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3999" y="2718000"/>
            <a:ext cx="342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行政责任由审批人承担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1999" y="270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C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000" y="2700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3960000"/>
            <a:ext cx="1116000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" y="4031999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F3A93"/>
                </a:solidFill>
                <a:latin typeface="Arial"/>
              </a:defRPr>
            </a:pPr>
            <a:r>
              <a:t>📊 审批状态机（LangGraph 实现）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F6BFF"/>
                </a:solidFill>
                <a:latin typeface="Arial"/>
              </a:defRPr>
            </a:pPr>
            <a:r>
              <a:t>pending → approved / rejected / needs_revision → withdrawn (撤回) → cancelled (结案)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6 种合法状态 · 状态转换日志完整 · 支持撤回后修改重提 · 催办通知 · 阶段历史追踪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100" b="1">
                <a:solidFill>
                  <a:srgbClr val="7C6BFF"/>
                </a:solidFill>
                <a:latin typeface="Arial"/>
              </a:defRPr>
            </a:pPr>
            <a:r>
              <a:t>💡 与黑箱 AI 审批的本质区别：AI 输出的是「建议」，不是「决定」；审批人看到的是「依据」，不是「结论」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代码：approval_service.py(LangGraph状态机) · AIDecisionPanel.tsx(362行) · workflow.py(19类流程)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本页主要得分点：创新性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RAG 政策检索：让 AI 建议具有政策依据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普通 Chatbot 只能回答问题，本系统把政策条文嵌入审批流程，AI 建议可追溯、可解释、可采纳或拒绝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60000"/>
            <a:ext cx="2628000" cy="900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📚 政策知识库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620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Arial"/>
              </a:defRPr>
            </a:pPr>
            <a:r>
              <a:t>2025 版校园政策</a:t>
            </a:r>
            <a:br/>
            <a:r>
              <a:t>JSON 结构化存储</a:t>
            </a:r>
            <a:br/>
            <a:r>
              <a:t>100+ 条条文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8000" y="1260000"/>
            <a:ext cx="2628000" cy="900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🔍 TF-IDF 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000" y="1620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Arial"/>
              </a:defRPr>
            </a:pPr>
            <a:r>
              <a:t>字符级 2-4 gram</a:t>
            </a:r>
            <a:br/>
            <a:r>
              <a:t>cosine_similarity</a:t>
            </a:r>
            <a:br/>
            <a:r>
              <a:t>冷启动 &lt;1s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8000" y="151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6000" y="1260000"/>
            <a:ext cx="2628000" cy="900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🧠 LLM 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000" y="1620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Arial"/>
              </a:defRPr>
            </a:pPr>
            <a:r>
              <a:t>本地 Qwen3-14B</a:t>
            </a:r>
            <a:br/>
            <a:r>
              <a:t>逐项合规检查</a:t>
            </a:r>
            <a:br/>
            <a:r>
              <a:t>风险等级判定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6000" y="151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4000" y="1260000"/>
            <a:ext cx="2628000" cy="900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📋 可解释结果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2000" y="1620000"/>
            <a:ext cx="241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Arial"/>
              </a:defRPr>
            </a:pPr>
            <a:r>
              <a:t>风险等级 + 逐项检查</a:t>
            </a:r>
            <a:br/>
            <a:r>
              <a:t>政策原文引用</a:t>
            </a:r>
            <a:br/>
            <a:r>
              <a:t>修改建议 + 推荐动作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4000" y="1512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F6B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520000"/>
            <a:ext cx="1116000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592000"/>
            <a:ext cx="10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Arial"/>
              </a:defRPr>
            </a:pPr>
            <a:r>
              <a:t>📝 场景一：学生提交前自查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2844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学生在手动填表页点击「提交前合规自查」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023999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调用 /api/ai/manual-compliance（不创建审批记录）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3204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3-5 秒返回：风险等级 + 逐项检查 + 政策引用 + 建议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3384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例如：「金额超 5000 元需附学校审批说明」→ 学生据此修改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3564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价值：将合规检查前移，减少提交-驳回-修改-重提循环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888000"/>
            <a:ext cx="11160000" cy="11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000" y="3960000"/>
            <a:ext cx="10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F6BFF"/>
                </a:solidFill>
                <a:latin typeface="Arial"/>
              </a:defRPr>
            </a:pPr>
            <a:r>
              <a:t>👤 场景二：审批人决策辅助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4212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审批详情打开后自动触发合规分析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4391999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AI 面板展示：合规分析 + 相似案例 + 政策条文 + 意见草稿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0" y="4572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推荐按钮按风险等级高亮（高风险→红色驳回，低风险→绿色通过）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" y="4752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每条分析附带政策原文引用，审批人可点击查看核实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000" y="4932000"/>
            <a:ext cx="100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• 价值：审批人从「凭经验判断」升级为「有依据决策」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代码：rag_service.py(TF-IDF+检索) · policy_kb.json(2025版) · ManualFormPage.tsx(自查按钮)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本页主要得分点：技术深度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多角色多阶段流程：适配高校组织结构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不只是学生提交+管理员审批两个节点——而是部门→财务→学校完整流转 + 5 角色 + 跨学校隔离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1620000" cy="64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62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👨‍🎓 学生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2340000" y="1548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F6BFF"/>
                </a:solidFill>
              </a:defRPr>
            </a:pPr>
            <a:r>
              <a:t>提交申请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0000" y="1548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F6BFF"/>
                </a:solidFill>
              </a:defRPr>
            </a:pPr>
            <a:r>
              <a:t>查看进度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0000" y="1548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F6BFF"/>
                </a:solidFill>
              </a:defRPr>
            </a:pPr>
            <a:r>
              <a:t>接收通知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232000"/>
            <a:ext cx="1620000" cy="6480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41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🏢 部门管理员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2340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6BFF"/>
                </a:solidFill>
              </a:defRPr>
            </a:pPr>
            <a:r>
              <a:t>审核材料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0000" y="2340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6BFF"/>
                </a:solidFill>
              </a:defRPr>
            </a:pPr>
            <a:r>
              <a:t>查看AI分析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0000" y="2340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6BFF"/>
                </a:solidFill>
              </a:defRPr>
            </a:pPr>
            <a:r>
              <a:t>审批决策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024000"/>
            <a:ext cx="1620000" cy="64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3204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💰 财务管理员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40000" y="3132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C55E"/>
                </a:solidFill>
              </a:defRPr>
            </a:pPr>
            <a:r>
              <a:t>审核金额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0000" y="3132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C55E"/>
                </a:solidFill>
              </a:defRPr>
            </a:pPr>
            <a:r>
              <a:t>核查发票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000" y="3132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2C55E"/>
                </a:solidFill>
              </a:defRPr>
            </a:pPr>
            <a:r>
              <a:t>财务审批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3816000"/>
            <a:ext cx="1620000" cy="64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99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🏫 学校管理员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0000" y="3924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全校事务总览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0000" y="3924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部门管理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0000" y="3924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学校级审批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4608000"/>
            <a:ext cx="1620000" cy="648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478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🔧 信息管理员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40000" y="4716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3A93"/>
                </a:solidFill>
              </a:defRPr>
            </a:pPr>
            <a:r>
              <a:t>API Key管理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0000" y="4716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3A93"/>
                </a:solidFill>
              </a:defRPr>
            </a:pPr>
            <a:r>
              <a:t>用户管理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0000" y="4716000"/>
            <a:ext cx="1980000" cy="4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F3A93"/>
                </a:solidFill>
              </a:defRPr>
            </a:pPr>
            <a:r>
              <a:t>系统监控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5508000"/>
            <a:ext cx="54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000" y="558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F3A93"/>
                </a:solidFill>
                <a:latin typeface="Arial"/>
              </a:defRPr>
            </a:pPr>
            <a:r>
              <a:t>📋 19 类审批模板 (templates.json)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B7A90"/>
                </a:solidFill>
                <a:latin typeface="Arial"/>
              </a:defRPr>
            </a:pPr>
            <a:r>
              <a:t>JSON 驱动 · 动态表单渲染 · 金额阈值自动跳过审批阶段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AB0"/>
                </a:solidFill>
                <a:latin typeface="Arial"/>
              </a:defRPr>
            </a:pPr>
            <a:r>
              <a:t>请假/报销/用章/场地/车辆/社团/奖学金/休学复学/在读证明/因公出国/入职报到/办公用品/图书采购/成绩单/学历学位/试卷查阅/调停课/缓考补考/出差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000" y="5508000"/>
            <a:ext cx="54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0000" y="558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F3A93"/>
                </a:solidFill>
                <a:latin typeface="Arial"/>
              </a:defRPr>
            </a:pPr>
            <a:r>
              <a:t>🏫 跨学校多租户隔离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B7A90"/>
                </a:solidFill>
                <a:latin typeface="Arial"/>
              </a:defRPr>
            </a:pPr>
            <a:r>
              <a:t>school 字段隔离 · Pro/Free 服务等级 · 学校管理员边界限制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8B9AB0"/>
                </a:solidFill>
                <a:latin typeface="Arial"/>
              </a:defRPr>
            </a:pPr>
            <a:r>
              <a:t>支持：山东科技大学(主校区,Pro) + 济南校区(Free) 双校种子数据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代码：workflow.py(19类流程) · templates.json · models.py(school字段) · seed.py(2校×全角色)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本页主要得分点：工程完成度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工程化、安全与可运维设计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项目不仅关注功能，也考虑了真实系统中的安全、稳定、性能和运维——从比赛 Demo 走向可部署系统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5472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8000" y="1368000"/>
            <a:ext cx="144000" cy="2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40000"/>
            <a:ext cx="51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🔐 安全机制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1999" y="172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JWT 双令牌 (access + refresh)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1999" y="1890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bcrypt 密码哈希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1999" y="205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Fernet API Key 加密存储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999" y="2214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MIME 魔数文件校验防伪造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237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软删除机制保护数据可恢复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999" y="253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全链路审计日志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2000" y="1260000"/>
            <a:ext cx="5472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80000" y="1368000"/>
            <a:ext cx="144000" cy="2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2000" y="1440000"/>
            <a:ext cx="51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⚡ 稳定机制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3999" y="172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API Key 池轮询 + 故障转移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3999" y="1890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失败计数自动禁用异常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3999" y="205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云端→本地→规则三层降级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3999" y="2214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单 Key 失效不影响全系统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3999" y="237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Redis 并发安全的原子计数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3999" y="253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管理员可视化开关 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528000"/>
            <a:ext cx="5472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8000" y="3636000"/>
            <a:ext cx="144000" cy="2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3708000"/>
            <a:ext cx="51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🚀 性能优化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999" y="399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图片 OCR 前 EXIF 修正+压缩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999" y="415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最大边 1800px, JPEG 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999" y="4320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PDF 文本直提避免 OCR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999" y="448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Redis 缓存 + 服务端分页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999" y="4644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TF-IDF 矩阵磁盘缓存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999" y="480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LoRA GGUF 量化加速推理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2000" y="3528000"/>
            <a:ext cx="5472000" cy="208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80000" y="3636000"/>
            <a:ext cx="144000" cy="21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2000" y="3708000"/>
            <a:ext cx="51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3A93"/>
                </a:solidFill>
                <a:latin typeface="Arial"/>
              </a:defRPr>
            </a:pPr>
            <a:r>
              <a:t>📊 运维支撑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3999" y="399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系统监控三面板（概览/日志/错误）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3999" y="4158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健康检查聚合各服务状态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3999" y="4320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结构化日志 + 错误聚合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3999" y="448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OCR 工具链调用追踪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3999" y="4644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一键启停脚本 + 环境检测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3999" y="4806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90"/>
                </a:solidFill>
                <a:latin typeface="Arial"/>
              </a:defRPr>
            </a:pPr>
            <a:r>
              <a:t>跨平台安装脚本 (macOS/Win)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代码：key_pool.py · crypto_service.py · file_service.py · logging_service.py · monitor_router.py · start.sh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本页主要得分点：工程完成度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Demo-1：AI 智能填表 — 从自然语言到预填表单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「我导师叫我去滨州调研…」→ AI 识别为请假申请 → 预填 12 个字段 → 合规自查 → 政策引用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6480000" cy="3420000"/>
          </a:xfrm>
          <a:prstGeom prst="rect">
            <a:avLst/>
          </a:prstGeom>
          <a:solidFill>
            <a:srgbClr val="F0F4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980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2F6BFF"/>
                </a:solidFill>
                <a:latin typeface="Arial"/>
              </a:defRPr>
            </a:pPr>
            <a:r>
              <a:t>【截图占位】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7A90"/>
                </a:solidFill>
                <a:latin typeface="Arial"/>
              </a:defRPr>
            </a:pPr>
          </a:p>
          <a:p>
            <a:pPr algn="ctr">
              <a:spcAft>
                <a:spcPts val="200"/>
              </a:spcAft>
              <a:defRPr sz="1200" b="0">
                <a:solidFill>
                  <a:srgbClr val="6B7A90"/>
                </a:solidFill>
                <a:latin typeface="Arial"/>
              </a:defRPr>
            </a:pPr>
            <a:r>
              <a:t>文件：02_workbench_nl_prefill.png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1F3A93"/>
                </a:solidFill>
                <a:latin typeface="Arial"/>
              </a:defRPr>
            </a:pPr>
            <a:r>
              <a:t>展示内容：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自然语言输入框与 AI 识别结果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12 个预填字段（时间/地点/事由/交通…）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合规分析结果（低风险 + 4 条政策引用）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ctr">
              <a:spcAft>
                <a:spcPts val="200"/>
              </a:spcAft>
              <a:defRPr sz="900" b="0">
                <a:solidFill>
                  <a:srgbClr val="8B9AB0"/>
                </a:solidFill>
                <a:latin typeface="Arial"/>
              </a:defRPr>
            </a:pPr>
            <a:r>
              <a:t>截图尺寸：16:9 · 放大标注 AI 预填区域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0000" y="1260000"/>
            <a:ext cx="4320000" cy="3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000" y="1368000"/>
            <a:ext cx="37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F3A93"/>
                </a:solidFill>
                <a:latin typeface="Arial"/>
              </a:defRPr>
            </a:pPr>
            <a:r>
              <a:t>🎯 评委关注点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1️⃣ 输入了什么？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口语化自然语言：「我导师叫我去滨州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调研，明后两天不在学校」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2️⃣ AI 做了什么？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意图识别→请假申请 (置信度 60%)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字段抽取→12 个字段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「明天/后天」→ 2026-06-05/06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「长途汽车」→交通工具映射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「公假」→请假类型分类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3️⃣ 证据在哪里？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4 条政策引用（学生请假管理办法）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风险等级：低风险 · 基本合规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📸 截图：02_workbench_nl_prefill.png · API：/api/ai/intent · 降级：规则兜底正则匹配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本页主要得分点：演示效果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Demo-2：提交前合规自查 — RAG 政策检索与风险分析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学生在提交前点击「合规自查」→ RAG 检索政策库 → 生成风险等级 + 逐项检查 + 政策引用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6480000" cy="3420000"/>
          </a:xfrm>
          <a:prstGeom prst="rect">
            <a:avLst/>
          </a:prstGeom>
          <a:solidFill>
            <a:srgbClr val="F0F4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980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【截图占位】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7A90"/>
                </a:solidFill>
                <a:latin typeface="Arial"/>
              </a:defRPr>
            </a:pPr>
          </a:p>
          <a:p>
            <a:pPr algn="ctr">
              <a:spcAft>
                <a:spcPts val="200"/>
              </a:spcAft>
              <a:defRPr sz="1100" b="0">
                <a:solidFill>
                  <a:srgbClr val="6B7A90"/>
                </a:solidFill>
                <a:latin typeface="Arial"/>
              </a:defRPr>
            </a:pPr>
            <a:r>
              <a:t>文件：02_workbench_nl_prefill.png（合规分析区域）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1F3A93"/>
                </a:solidFill>
                <a:latin typeface="Arial"/>
              </a:defRPr>
            </a:pPr>
            <a:r>
              <a:t>标注内容：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① 风险等级标签：低风险/中风险/高风险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② 逐项检查结果：✅通过 / ⚠警告 / ❌不通过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③ 政策引用：学生请假管理办法第1/3/4/5条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④ 建议动作：补充辅导员信息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0000" y="1260000"/>
            <a:ext cx="4320000" cy="3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000" y="1368000"/>
            <a:ext cx="37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F3A93"/>
                </a:solidFill>
                <a:latin typeface="Arial"/>
              </a:defRPr>
            </a:pPr>
            <a:r>
              <a:t>🔬 技术实现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检索：TF-IDF 字符级 n-gram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scikit-learn · char ngram_range=(2,4)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cosine_similarity 匹配政策条文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2C55E"/>
                </a:solidFill>
                <a:latin typeface="Arial"/>
              </a:defRPr>
            </a:pPr>
            <a:r>
              <a:t>冷启动 &lt;1s · 延迟 &lt;10ms · 零GPU依赖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分析：本地 Qwen3-14B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数据不出服务器 · 隐私可控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llama.cpp 推理 · OpenAI 兼容 API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2C55E"/>
                </a:solidFill>
                <a:latin typeface="Arial"/>
              </a:defRPr>
            </a:pPr>
            <a:r>
              <a:t>响应时间 2-5 秒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2F6BFF"/>
                </a:solidFill>
                <a:latin typeface="Arial"/>
              </a:defRPr>
            </a:pPr>
            <a:r>
              <a:t>关键设计：不创建审批记录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/api/ai/manual-compliance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纯提交者自查 · 不消耗审批人时间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22C55E"/>
                </a:solidFill>
                <a:latin typeface="Arial"/>
              </a:defRPr>
            </a:pPr>
            <a:r>
              <a:t>前移质量检查 → 减少驳回循环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📁 代码：rag_service.py(TF-IDF索引+LLM分析) · rule_engine.py(预审规则) · policy_kb.json(2025版知识库)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本页主要得分点：技术深度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Demo-3：人机协同审批 — AI 辅助 + 人工决策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审批详情自动合规分析 → AI 推荐按钮高亮 → 审批人核实依据 → 人工执行通过/驳回/需修改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6480000" cy="3420000"/>
          </a:xfrm>
          <a:prstGeom prst="rect">
            <a:avLst/>
          </a:prstGeom>
          <a:solidFill>
            <a:srgbClr val="F0F4FF"/>
          </a:solidFill>
          <a:ln w="12700">
            <a:solidFill>
              <a:srgbClr val="1F3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1980000"/>
            <a:ext cx="54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1F3A93"/>
                </a:solidFill>
                <a:latin typeface="Arial"/>
              </a:defRPr>
            </a:pPr>
            <a:r>
              <a:t>【截图占位】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6B7A90"/>
                </a:solidFill>
                <a:latin typeface="Arial"/>
              </a:defRPr>
            </a:pPr>
          </a:p>
          <a:p>
            <a:pPr algn="ctr">
              <a:spcAft>
                <a:spcPts val="200"/>
              </a:spcAft>
              <a:defRPr sz="1100" b="0">
                <a:solidFill>
                  <a:srgbClr val="6B7A90"/>
                </a:solidFill>
                <a:latin typeface="Arial"/>
              </a:defRPr>
            </a:pPr>
            <a:r>
              <a:t>文件：04_dept_ai_review.png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1F3A93"/>
                </a:solidFill>
                <a:latin typeface="Arial"/>
              </a:defRPr>
            </a:pPr>
            <a:r>
              <a:t>标注内容（用放大框标注）：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① AI 合规分析面板：风险等级 + 逐项检查 + 政策引用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② 推荐动作按钮：高风险→红色驳回 低风险→绿色通过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③ AI 意见草稿：审批人可一键填入或修改</a:t>
            </a:r>
          </a:p>
          <a:p>
            <a:pPr algn="l">
              <a:spcAft>
                <a:spcPts val="200"/>
              </a:spcAft>
              <a:defRPr sz="1050" b="1">
                <a:solidFill>
                  <a:srgbClr val="EF4444"/>
                </a:solidFill>
                <a:latin typeface="Arial"/>
              </a:defRPr>
            </a:pPr>
            <a:r>
              <a:t>④ 人工审批按钮：通过/驳回/需修改（最终决策权）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0000" y="1260000"/>
            <a:ext cx="4320000" cy="3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000" y="1368000"/>
            <a:ext cx="37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F3A93"/>
                </a:solidFill>
                <a:latin typeface="Arial"/>
              </a:defRPr>
            </a:pPr>
            <a:r>
              <a:t>⚖️ HITL 证据链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7C6BFF"/>
                </a:solidFill>
                <a:latin typeface="Arial"/>
              </a:defRPr>
            </a:pPr>
            <a:r>
              <a:t>AI 做了什么：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检索 4 条相关政策条文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逐项合规检查（通过/警告）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生成风险等级（低风险）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推荐审批动作 + 意见草稿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AI 不能做什么：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EF4444"/>
                </a:solidFill>
                <a:latin typeface="Arial"/>
              </a:defRPr>
            </a:pPr>
            <a:r>
              <a:t>• ❌ 自动通过/驳回申请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EF4444"/>
                </a:solidFill>
                <a:latin typeface="Arial"/>
              </a:defRPr>
            </a:pPr>
            <a:r>
              <a:t>• ❌ 替代审批人的判断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EF4444"/>
                </a:solidFill>
                <a:latin typeface="Arial"/>
              </a:defRPr>
            </a:pPr>
            <a:r>
              <a:t>• ❌ 承担行政决策责任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6B7A90"/>
                </a:solidFill>
                <a:latin typeface="Arial"/>
              </a:defRPr>
            </a:pPr>
          </a:p>
          <a:p>
            <a:pPr algn="l">
              <a:spcAft>
                <a:spcPts val="200"/>
              </a:spcAft>
              <a:defRPr sz="1200" b="1">
                <a:solidFill>
                  <a:srgbClr val="1F3A93"/>
                </a:solidFill>
                <a:latin typeface="Arial"/>
              </a:defRPr>
            </a:pPr>
            <a:r>
              <a:t>人做了什么：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查看 AI 分析结果与政策原文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核实证据 → 做出行政决策</a:t>
            </a:r>
          </a:p>
          <a:p>
            <a:pPr algn="l">
              <a:spcAft>
                <a:spcPts val="200"/>
              </a:spcAft>
              <a:defRPr sz="1050" b="0">
                <a:solidFill>
                  <a:srgbClr val="6B7A90"/>
                </a:solidFill>
                <a:latin typeface="Arial"/>
              </a:defRPr>
            </a:pPr>
            <a:r>
              <a:t>• 点击通过/驳回/需修改</a:t>
            </a:r>
          </a:p>
          <a:p>
            <a:pPr algn="l">
              <a:spcAft>
                <a:spcPts val="200"/>
              </a:spcAft>
              <a:defRPr sz="1050" b="1">
                <a:solidFill>
                  <a:srgbClr val="1F3A93"/>
                </a:solidFill>
                <a:latin typeface="Arial"/>
              </a:defRPr>
            </a:pPr>
            <a:r>
              <a:t>• 承担最终审批责任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📸 截图：04_dept_ai_review.png · 组件：AIDecisionPanel.tsx(362行) · 后端：approval_service.py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本页主要得分点：创新性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432000"/>
            <a:ext cx="36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03999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93"/>
                </a:solidFill>
                <a:latin typeface="Arial"/>
              </a:defRPr>
            </a:pPr>
            <a:r>
              <a:t>创新点与应用价值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A90"/>
                </a:solidFill>
                <a:latin typeface="Arial"/>
              </a:defRPr>
            </a:pPr>
            <a:r>
              <a:t>项目的创新不只在模型调用，而在于把 AI 能力、政策依据、审批责任和产品体验统一到完整流程中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26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260000"/>
            <a:ext cx="3600000" cy="28800"/>
          </a:xfrm>
          <a:prstGeom prst="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000" y="144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6BFF"/>
                </a:solidFill>
                <a:latin typeface="Arial"/>
              </a:defRPr>
            </a:pPr>
            <a:r>
              <a:t>流程创新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000" y="180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AI 从问答工具转为</a:t>
            </a:r>
            <a:br/>
            <a:r>
              <a:t>审批流程协同代理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2000" y="126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2000" y="1260000"/>
            <a:ext cx="3600000" cy="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0" y="144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6BFF"/>
                </a:solidFill>
                <a:latin typeface="Arial"/>
              </a:defRPr>
            </a:pPr>
            <a:r>
              <a:t>架构创新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0" y="180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云端语义+本地合规</a:t>
            </a:r>
            <a:br/>
            <a:r>
              <a:t>+规则兜底分层协作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3999" y="126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3999" y="1260000"/>
            <a:ext cx="3600000" cy="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999" y="144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交互创新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999" y="180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玻璃拟态+角色导航</a:t>
            </a:r>
            <a:br/>
            <a:r>
              <a:t>+AI状态可感知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88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2880000"/>
            <a:ext cx="3600000" cy="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" y="306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治理价值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" y="342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提升填表效率</a:t>
            </a:r>
            <a:br/>
            <a:r>
              <a:t>降低政策查找成本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2000" y="288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92000" y="2880000"/>
            <a:ext cx="3600000" cy="288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0" y="306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3A93"/>
                </a:solidFill>
                <a:latin typeface="Arial"/>
              </a:defRPr>
            </a:pPr>
            <a:r>
              <a:t>扩展价值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342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可迁移至其他高校</a:t>
            </a:r>
            <a:br/>
            <a:r>
              <a:t>或校园事务类型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3999" y="2880000"/>
            <a:ext cx="360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3999" y="2880000"/>
            <a:ext cx="3600000" cy="28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999" y="3060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F6BFF"/>
                </a:solidFill>
                <a:latin typeface="Arial"/>
              </a:defRPr>
            </a:pPr>
            <a:r>
              <a:t>工程价值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999" y="3420000"/>
            <a:ext cx="30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90"/>
                </a:solidFill>
                <a:latin typeface="Arial"/>
              </a:defRPr>
            </a:pPr>
            <a:r>
              <a:t>17,000行代码+99API</a:t>
            </a:r>
            <a:br/>
            <a:r>
              <a:t>+16表+完整监控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4500000"/>
            <a:ext cx="11160000" cy="79200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000" y="4608000"/>
            <a:ext cx="104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F3A93"/>
                </a:solidFill>
                <a:latin typeface="Arial"/>
              </a:defRPr>
            </a:pPr>
            <a:r>
              <a:t>💡 核心竞争力总结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B7A90"/>
                </a:solidFill>
                <a:latin typeface="Arial"/>
              </a:defRPr>
            </a:pPr>
            <a:r>
              <a:t>不是「有 AI 功能」— 而是 AI 深度嵌入审批全流程（填表→检索→合规→决策辅助→归档），每个环节有代码、有截图、可现场演示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63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2C55E"/>
                </a:solidFill>
                <a:latin typeface="Arial"/>
              </a:defRPr>
            </a:pPr>
            <a:r>
              <a:t>📸 7张真实运行截图 · 5张SVG架构图 · 22个评委问答准备 · 完整项目分析报告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0000" y="6300000"/>
            <a:ext cx="2700000" cy="28800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🎯 本页主要得分点：创新性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288000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5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26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FF"/>
                </a:solidFill>
                <a:latin typeface="Arial"/>
              </a:defRPr>
            </a:pPr>
            <a:r>
              <a:t>智审通的目标不是炫技，而是解决高校事务办理中</a:t>
            </a:r>
            <a:br/>
            <a:r>
              <a:t>不会填、找不到依据、审批效率低和责任不清晰的问题。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3240000"/>
            <a:ext cx="2592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334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A93"/>
                </a:solidFill>
                <a:latin typeface="Arial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3A93"/>
                </a:solidFill>
                <a:latin typeface="Arial"/>
              </a:defRPr>
            </a:pPr>
            <a:r>
              <a:t>面向真实高校事务场景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320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A90"/>
                </a:solidFill>
                <a:latin typeface="Arial"/>
              </a:defRPr>
            </a:pPr>
            <a:r>
              <a:t>19 类审批模板 · 5 角色 · 2 校种子数据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0000" y="3240000"/>
            <a:ext cx="2592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0000" y="334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A93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39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3A93"/>
                </a:solidFill>
                <a:latin typeface="Arial"/>
              </a:defRPr>
            </a:pPr>
            <a:r>
              <a:t>AI 辅助但不替代人工决策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4320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A90"/>
                </a:solidFill>
                <a:latin typeface="Arial"/>
              </a:defRPr>
            </a:pPr>
            <a:r>
              <a:t>云端语义 + 本地合规 + 规则兜底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3240000"/>
            <a:ext cx="2592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0000" y="334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A93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39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3A93"/>
                </a:solidFill>
                <a:latin typeface="Arial"/>
              </a:defRPr>
            </a:pPr>
            <a:r>
              <a:t>RAG 提供政策依据与可解释性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4320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A90"/>
                </a:solidFill>
                <a:latin typeface="Arial"/>
              </a:defRPr>
            </a:pPr>
            <a:r>
              <a:t>TF-IDF 检索 · 2025 版知识库 · 逐项检查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000" y="3240000"/>
            <a:ext cx="2592000" cy="19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0000" y="334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3A93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0" y="3960000"/>
            <a:ext cx="2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3A93"/>
                </a:solidFill>
                <a:latin typeface="Arial"/>
              </a:defRPr>
            </a:pPr>
            <a:r>
              <a:t>完整工程闭环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0" y="4320000"/>
            <a:ext cx="22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A90"/>
                </a:solidFill>
                <a:latin typeface="Arial"/>
              </a:defRPr>
            </a:pPr>
            <a:r>
              <a:t>17,000 行代码 · 99 API · 16 表 · 监控 + 安全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0000" y="5400000"/>
            <a:ext cx="10080000" cy="720000"/>
          </a:xfrm>
          <a:prstGeom prst="round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0000" y="5544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93"/>
                </a:solidFill>
                <a:latin typeface="Arial"/>
              </a:defRPr>
            </a:pPr>
            <a:r>
              <a:t>「把 AI 放进流程，而不是替代流程」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6300000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A90"/>
                </a:solidFill>
                <a:latin typeface="Arial"/>
              </a:defRPr>
            </a:pPr>
            <a:r>
              <a:t>Q&amp;A · 感谢各位评委老师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