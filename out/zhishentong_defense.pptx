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1" r:id="rId7"/>
    <p:sldId id="322" r:id="rId19"/>
    <p:sldId id="313" r:id="rId9"/>
    <p:sldId id="324" r:id="rId21"/>
    <p:sldId id="319" r:id="rId16"/>
    <p:sldId id="320" r:id="rId17"/>
    <p:sldId id="335" r:id="rId32"/>
    <p:sldId id="340" r:id="rId37"/>
    <p:sldId id="342" r:id="rId39"/>
    <p:sldId id="326" r:id="rId23"/>
    <p:sldId id="334" r:id="rId31"/>
    <p:sldId id="347" r:id="rId44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tags" Target="../tags/tag116.xml"/><Relationship Id="rId6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tags" Target="../tags/tag152.xml"/><Relationship Id="rId18" Type="http://schemas.openxmlformats.org/officeDocument/2006/relationships/tags" Target="../tags/tag153.xml"/><Relationship Id="rId19" Type="http://schemas.openxmlformats.org/officeDocument/2006/relationships/tags" Target="../tags/tag154.xml"/><Relationship Id="rId20" Type="http://schemas.openxmlformats.org/officeDocument/2006/relationships/tags" Target="../tags/tag155.xml"/><Relationship Id="rId21" Type="http://schemas.openxmlformats.org/officeDocument/2006/relationships/tags" Target="../tags/tag156.xml"/><Relationship Id="rId22" Type="http://schemas.openxmlformats.org/officeDocument/2006/relationships/tags" Target="../tags/tag157.xml"/><Relationship Id="rId23" Type="http://schemas.openxmlformats.org/officeDocument/2006/relationships/tags" Target="../tags/tag158.xml"/><Relationship Id="rId24" Type="http://schemas.openxmlformats.org/officeDocument/2006/relationships/tags" Target="../tags/tag159.xml"/><Relationship Id="rId25" Type="http://schemas.openxmlformats.org/officeDocument/2006/relationships/tags" Target="../tags/tag160.xml"/><Relationship Id="rId26" Type="http://schemas.openxmlformats.org/officeDocument/2006/relationships/tags" Target="../tags/tag161.xml"/><Relationship Id="rId27" Type="http://schemas.openxmlformats.org/officeDocument/2006/relationships/tags" Target="../tags/tag162.xml"/><Relationship Id="rId28" Type="http://schemas.openxmlformats.org/officeDocument/2006/relationships/tags" Target="../tags/tag163.xml"/><Relationship Id="rId29" Type="http://schemas.openxmlformats.org/officeDocument/2006/relationships/tags" Target="../tags/tag164.xml"/><Relationship Id="rId30" Type="http://schemas.openxmlformats.org/officeDocument/2006/relationships/tags" Target="../tags/tag165.xml"/><Relationship Id="rId31" Type="http://schemas.openxmlformats.org/officeDocument/2006/relationships/tags" Target="../tags/tag166.xml"/><Relationship Id="rId32" Type="http://schemas.openxmlformats.org/officeDocument/2006/relationships/tags" Target="../tags/tag167.xml"/><Relationship Id="rId33" Type="http://schemas.openxmlformats.org/officeDocument/2006/relationships/tags" Target="../tags/tag168.xml"/><Relationship Id="rId34" Type="http://schemas.openxmlformats.org/officeDocument/2006/relationships/tags" Target="../tags/tag169.xml"/><Relationship Id="rId35" Type="http://schemas.openxmlformats.org/officeDocument/2006/relationships/tags" Target="../tags/tag170.xml"/><Relationship Id="rId36" Type="http://schemas.openxmlformats.org/officeDocument/2006/relationships/tags" Target="../tags/tag171.xml"/><Relationship Id="rId37" Type="http://schemas.openxmlformats.org/officeDocument/2006/relationships/tags" Target="../tags/tag172.xml"/><Relationship Id="rId38" Type="http://schemas.openxmlformats.org/officeDocument/2006/relationships/tags" Target="../tags/tag173.xml"/><Relationship Id="rId39" Type="http://schemas.openxmlformats.org/officeDocument/2006/relationships/tags" Target="../tags/tag174.xml"/><Relationship Id="rId40" Type="http://schemas.openxmlformats.org/officeDocument/2006/relationships/tags" Target="../tags/tag175.xml"/><Relationship Id="rId41" Type="http://schemas.openxmlformats.org/officeDocument/2006/relationships/tags" Target="../tags/tag176.xml"/><Relationship Id="rId42" Type="http://schemas.openxmlformats.org/officeDocument/2006/relationships/tags" Target="../tags/tag177.xml"/><Relationship Id="rId43" Type="http://schemas.openxmlformats.org/officeDocument/2006/relationships/tags" Target="../tags/tag178.xml"/><Relationship Id="rId44" Type="http://schemas.openxmlformats.org/officeDocument/2006/relationships/tags" Target="../tags/tag179.xml"/><Relationship Id="rId45" Type="http://schemas.openxmlformats.org/officeDocument/2006/relationships/tags" Target="../tags/tag180.xml"/><Relationship Id="rId46" Type="http://schemas.openxmlformats.org/officeDocument/2006/relationships/tags" Target="../tags/tag181.xml"/><Relationship Id="rId47" Type="http://schemas.openxmlformats.org/officeDocument/2006/relationships/tags" Target="../tags/tag182.xml"/><Relationship Id="rId48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Relationship Id="rId11" Type="http://schemas.openxmlformats.org/officeDocument/2006/relationships/tags" Target="../tags/tag194.xml"/><Relationship Id="rId12" Type="http://schemas.openxmlformats.org/officeDocument/2006/relationships/tags" Target="../tags/tag195.xml"/><Relationship Id="rId13" Type="http://schemas.openxmlformats.org/officeDocument/2006/relationships/tags" Target="../tags/tag196.xml"/><Relationship Id="rId14" Type="http://schemas.openxmlformats.org/officeDocument/2006/relationships/tags" Target="../tags/tag197.xml"/><Relationship Id="rId15" Type="http://schemas.openxmlformats.org/officeDocument/2006/relationships/tags" Target="../tags/tag198.xml"/><Relationship Id="rId16" Type="http://schemas.openxmlformats.org/officeDocument/2006/relationships/tags" Target="../tags/tag199.xml"/><Relationship Id="rId17" Type="http://schemas.openxmlformats.org/officeDocument/2006/relationships/tags" Target="../tags/tag200.xml"/><Relationship Id="rId18" Type="http://schemas.openxmlformats.org/officeDocument/2006/relationships/tags" Target="../tags/tag201.xml"/><Relationship Id="rId19" Type="http://schemas.openxmlformats.org/officeDocument/2006/relationships/tags" Target="../tags/tag202.xml"/><Relationship Id="rId20" Type="http://schemas.openxmlformats.org/officeDocument/2006/relationships/tags" Target="../tags/tag203.xml"/><Relationship Id="rId21" Type="http://schemas.openxmlformats.org/officeDocument/2006/relationships/tags" Target="../tags/tag204.xml"/><Relationship Id="rId22" Type="http://schemas.openxmlformats.org/officeDocument/2006/relationships/tags" Target="../tags/tag205.xml"/><Relationship Id="rId23" Type="http://schemas.openxmlformats.org/officeDocument/2006/relationships/tags" Target="../tags/tag206.xml"/><Relationship Id="rId24" Type="http://schemas.openxmlformats.org/officeDocument/2006/relationships/tags" Target="../tags/tag207.xml"/><Relationship Id="rId25" Type="http://schemas.openxmlformats.org/officeDocument/2006/relationships/tags" Target="../tags/tag208.xml"/><Relationship Id="rId26" Type="http://schemas.openxmlformats.org/officeDocument/2006/relationships/tags" Target="../tags/tag209.xml"/><Relationship Id="rId27" Type="http://schemas.openxmlformats.org/officeDocument/2006/relationships/tags" Target="../tags/tag210.xml"/><Relationship Id="rId28" Type="http://schemas.openxmlformats.org/officeDocument/2006/relationships/tags" Target="../tags/tag211.xml"/><Relationship Id="rId29" Type="http://schemas.openxmlformats.org/officeDocument/2006/relationships/tags" Target="../tags/tag212.xml"/><Relationship Id="rId30" Type="http://schemas.openxmlformats.org/officeDocument/2006/relationships/tags" Target="../tags/tag213.xml"/><Relationship Id="rId31" Type="http://schemas.openxmlformats.org/officeDocument/2006/relationships/tags" Target="../tags/tag214.xml"/><Relationship Id="rId32" Type="http://schemas.openxmlformats.org/officeDocument/2006/relationships/tags" Target="../tags/tag215.xml"/><Relationship Id="rId33" Type="http://schemas.openxmlformats.org/officeDocument/2006/relationships/tags" Target="../tags/tag216.xml"/><Relationship Id="rId34" Type="http://schemas.openxmlformats.org/officeDocument/2006/relationships/tags" Target="../tags/tag217.xml"/><Relationship Id="rId35" Type="http://schemas.openxmlformats.org/officeDocument/2006/relationships/tags" Target="../tags/tag218.xml"/><Relationship Id="rId36" Type="http://schemas.openxmlformats.org/officeDocument/2006/relationships/tags" Target="../tags/tag219.xml"/><Relationship Id="rId37" Type="http://schemas.openxmlformats.org/officeDocument/2006/relationships/tags" Target="../tags/tag220.xml"/><Relationship Id="rId38" Type="http://schemas.openxmlformats.org/officeDocument/2006/relationships/tags" Target="../tags/tag221.xml"/><Relationship Id="rId39" Type="http://schemas.openxmlformats.org/officeDocument/2006/relationships/tags" Target="../tags/tag222.xml"/><Relationship Id="rId40" Type="http://schemas.openxmlformats.org/officeDocument/2006/relationships/tags" Target="../tags/tag223.xml"/><Relationship Id="rId41" Type="http://schemas.openxmlformats.org/officeDocument/2006/relationships/tags" Target="../tags/tag224.xml"/><Relationship Id="rId42" Type="http://schemas.openxmlformats.org/officeDocument/2006/relationships/tags" Target="../tags/tag225.xml"/><Relationship Id="rId43" Type="http://schemas.openxmlformats.org/officeDocument/2006/relationships/tags" Target="../tags/tag226.xml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tags" Target="../tags/tag232.xml"/><Relationship Id="rId7" Type="http://schemas.openxmlformats.org/officeDocument/2006/relationships/tags" Target="../tags/tag233.xml"/><Relationship Id="rId8" Type="http://schemas.openxmlformats.org/officeDocument/2006/relationships/tags" Target="../tags/tag234.xml"/><Relationship Id="rId9" Type="http://schemas.openxmlformats.org/officeDocument/2006/relationships/tags" Target="../tags/tag235.xml"/><Relationship Id="rId10" Type="http://schemas.openxmlformats.org/officeDocument/2006/relationships/tags" Target="../tags/tag236.xml"/><Relationship Id="rId1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Relationship Id="rId9" Type="http://schemas.openxmlformats.org/officeDocument/2006/relationships/tags" Target="../tags/tag318.xml"/><Relationship Id="rId10" Type="http://schemas.openxmlformats.org/officeDocument/2006/relationships/tags" Target="../tags/tag319.xml"/><Relationship Id="rId11" Type="http://schemas.openxmlformats.org/officeDocument/2006/relationships/tags" Target="../tags/tag320.xml"/><Relationship Id="rId12" Type="http://schemas.openxmlformats.org/officeDocument/2006/relationships/tags" Target="../tags/tag321.xml"/><Relationship Id="rId13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tags" Target="../tags/tag339.xml"/><Relationship Id="rId6" Type="http://schemas.openxmlformats.org/officeDocument/2006/relationships/tags" Target="../tags/tag340.xml"/><Relationship Id="rId7" Type="http://schemas.openxmlformats.org/officeDocument/2006/relationships/tags" Target="../tags/tag341.xml"/><Relationship Id="rId8" Type="http://schemas.openxmlformats.org/officeDocument/2006/relationships/tags" Target="../tags/tag342.xml"/><Relationship Id="rId9" Type="http://schemas.openxmlformats.org/officeDocument/2006/relationships/tags" Target="../tags/tag343.xml"/><Relationship Id="rId10" Type="http://schemas.openxmlformats.org/officeDocument/2006/relationships/tags" Target="../tags/tag344.xml"/><Relationship Id="rId11" Type="http://schemas.openxmlformats.org/officeDocument/2006/relationships/tags" Target="../tags/tag345.xml"/><Relationship Id="rId12" Type="http://schemas.openxmlformats.org/officeDocument/2006/relationships/tags" Target="../tags/tag346.xml"/><Relationship Id="rId13" Type="http://schemas.openxmlformats.org/officeDocument/2006/relationships/tags" Target="../tags/tag347.xml"/><Relationship Id="rId14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智审通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Human-in-the-Loop Smart Approval System</a:t>
            </a:r>
            <a:endParaRPr lang="en-US" altLang="zh-CN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矩形: 圆顶角 2"/>
          <p:cNvSpPr/>
          <p:nvPr>
            <p:custDataLst>
              <p:tags r:id="rId1"/>
            </p:custDataLst>
          </p:nvPr>
        </p:nvSpPr>
        <p:spPr>
          <a:xfrm rot="16200000" flipH="1" flipV="1">
            <a:off x="2733739" y="-323761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7563223" y="2301228"/>
            <a:ext cx="2938145" cy="2863215"/>
          </a:xfrm>
          <a:prstGeom prst="arc">
            <a:avLst>
              <a:gd name="adj1" fmla="val 18872393"/>
              <a:gd name="adj2" fmla="val 498077"/>
            </a:avLst>
          </a:prstGeom>
          <a:solidFill>
            <a:schemeClr val="bg1"/>
          </a:solidFill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2533" y="289495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8198223" y="187577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8" name="弧形 37"/>
          <p:cNvSpPr/>
          <p:nvPr/>
        </p:nvSpPr>
        <p:spPr>
          <a:xfrm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9" name="弧形 38"/>
          <p:cNvSpPr/>
          <p:nvPr/>
        </p:nvSpPr>
        <p:spPr>
          <a:xfrm flipH="1" flipV="1"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0" name="弧形 39"/>
          <p:cNvSpPr/>
          <p:nvPr/>
        </p:nvSpPr>
        <p:spPr>
          <a:xfrm flipH="1" flipV="1">
            <a:off x="7661648" y="2397113"/>
            <a:ext cx="2938145" cy="2863215"/>
          </a:xfrm>
          <a:prstGeom prst="arc">
            <a:avLst>
              <a:gd name="adj1" fmla="val 21468674"/>
              <a:gd name="adj2" fmla="val 3153105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弧形 40"/>
          <p:cNvSpPr/>
          <p:nvPr/>
        </p:nvSpPr>
        <p:spPr>
          <a:xfrm flipH="1" flipV="1">
            <a:off x="7661648" y="2519668"/>
            <a:ext cx="2938145" cy="2863215"/>
          </a:xfrm>
          <a:prstGeom prst="arc">
            <a:avLst>
              <a:gd name="adj1" fmla="val 14940638"/>
              <a:gd name="adj2" fmla="val 18187804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弧形 42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4" name="弧形 43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弧形 44"/>
          <p:cNvSpPr/>
          <p:nvPr/>
        </p:nvSpPr>
        <p:spPr>
          <a:xfrm>
            <a:off x="9666978" y="3969373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弧形 46"/>
          <p:cNvSpPr/>
          <p:nvPr/>
        </p:nvSpPr>
        <p:spPr>
          <a:xfrm flipH="1" flipV="1"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51763" y="503236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弧形 48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弧形 49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弧形 50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204448" y="384110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709619" y="5358004"/>
            <a:ext cx="101520" cy="101520"/>
          </a:xfrm>
          <a:prstGeom prst="ellipse">
            <a:avLst/>
          </a:prstGeom>
          <a:noFill/>
          <a:ln w="11938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6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弧形 53"/>
          <p:cNvSpPr/>
          <p:nvPr/>
        </p:nvSpPr>
        <p:spPr>
          <a:xfrm>
            <a:off x="6714228" y="396111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弧形 54"/>
          <p:cNvSpPr/>
          <p:nvPr/>
        </p:nvSpPr>
        <p:spPr>
          <a:xfrm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弧形 55"/>
          <p:cNvSpPr/>
          <p:nvPr/>
        </p:nvSpPr>
        <p:spPr>
          <a:xfrm flipH="1" flipV="1"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899013" y="502347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图形 239" descr="31393935333132383b31393939333930313bbcbccaf5b1a8b1ed"/>
          <p:cNvGrpSpPr/>
          <p:nvPr/>
        </p:nvGrpSpPr>
        <p:grpSpPr>
          <a:xfrm>
            <a:off x="8750673" y="2257413"/>
            <a:ext cx="601345" cy="587375"/>
            <a:chOff x="4457295" y="4749986"/>
            <a:chExt cx="914400" cy="891219"/>
          </a:xfrm>
        </p:grpSpPr>
        <p:sp>
          <p:nvSpPr>
            <p:cNvPr id="59" name="任意多边形: 形状 55"/>
            <p:cNvSpPr/>
            <p:nvPr/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solidFill>
              <a:srgbClr val="000000"/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0" name="任意多边形: 形状 56"/>
            <p:cNvSpPr/>
            <p:nvPr/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40" descr="31393935333132383b31393939333930373bb2c6cef1bbe3b1a8"/>
          <p:cNvGrpSpPr/>
          <p:nvPr/>
        </p:nvGrpSpPr>
        <p:grpSpPr>
          <a:xfrm>
            <a:off x="7283823" y="4409428"/>
            <a:ext cx="601345" cy="596265"/>
            <a:chOff x="5371696" y="4742779"/>
            <a:chExt cx="914399" cy="905633"/>
          </a:xfrm>
        </p:grpSpPr>
        <p:sp>
          <p:nvSpPr>
            <p:cNvPr id="62" name="任意多边形: 形状 52"/>
            <p:cNvSpPr/>
            <p:nvPr/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3" name="任意多边形: 形状 53"/>
            <p:cNvSpPr/>
            <p:nvPr/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4" name="任意多边形: 形状 54"/>
            <p:cNvSpPr/>
            <p:nvPr/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solidFill>
              <a:srgbClr val="000000"/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5" name="图形 253" descr="31393935333132383b31393939333839383bd7dcbde1bbe3b1a8"/>
          <p:cNvGrpSpPr/>
          <p:nvPr/>
        </p:nvGrpSpPr>
        <p:grpSpPr>
          <a:xfrm>
            <a:off x="10234668" y="4429748"/>
            <a:ext cx="518795" cy="601980"/>
            <a:chOff x="8663480" y="4666857"/>
            <a:chExt cx="789797" cy="914399"/>
          </a:xfrm>
        </p:grpSpPr>
        <p:sp>
          <p:nvSpPr>
            <p:cNvPr id="66" name="任意多边形: 形状 50"/>
            <p:cNvSpPr/>
            <p:nvPr/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51"/>
            <p:cNvSpPr/>
            <p:nvPr/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solidFill>
              <a:srgbClr val="000000"/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8" name="文本框 39"/>
          <p:cNvSpPr txBox="1"/>
          <p:nvPr>
            <p:custDataLst>
              <p:tags r:id="rId2"/>
            </p:custDataLst>
          </p:nvPr>
        </p:nvSpPr>
        <p:spPr>
          <a:xfrm>
            <a:off x="1057910" y="1668780"/>
            <a:ext cx="43503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政策导向：普惠园需落实融合教育责任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9" name="文本框 40"/>
          <p:cNvSpPr txBox="1"/>
          <p:nvPr>
            <p:custDataLst>
              <p:tags r:id="rId3"/>
            </p:custDataLst>
          </p:nvPr>
        </p:nvSpPr>
        <p:spPr>
          <a:xfrm>
            <a:off x="1058170" y="2129969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国家政策推动融合教育普及，普惠性幼儿园作为学前教育主体，需落实轻度自闭症幼儿的教育接纳责任。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8320778" y="429576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0159103" y="385253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847953" y="546670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275433" y="430719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8687173" y="175322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8376023" y="336739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9803503" y="220788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7" name="矩形: 圆顶角 42"/>
          <p:cNvSpPr/>
          <p:nvPr>
            <p:custDataLst>
              <p:tags r:id="rId4"/>
            </p:custDataLst>
          </p:nvPr>
        </p:nvSpPr>
        <p:spPr>
          <a:xfrm rot="16200000" flipH="1" flipV="1">
            <a:off x="2733739" y="1329055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8" name="文本框 4"/>
          <p:cNvSpPr txBox="1"/>
          <p:nvPr>
            <p:custDataLst>
              <p:tags r:id="rId5"/>
            </p:custDataLst>
          </p:nvPr>
        </p:nvSpPr>
        <p:spPr>
          <a:xfrm>
            <a:off x="1057910" y="3321685"/>
            <a:ext cx="41471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现实矛盾：入园需求与支持方案不匹配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9" name="文本框 5"/>
          <p:cNvSpPr txBox="1"/>
          <p:nvPr>
            <p:custDataLst>
              <p:tags r:id="rId6"/>
            </p:custDataLst>
          </p:nvPr>
        </p:nvSpPr>
        <p:spPr>
          <a:xfrm>
            <a:off x="1058170" y="3782785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轻度自闭症幼儿入园需求增长，但普惠性幼儿园缺乏针对性的融合教育支持方案，供需矛盾突出。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0" name="矩形: 圆顶角 46"/>
          <p:cNvSpPr/>
          <p:nvPr>
            <p:custDataLst>
              <p:tags r:id="rId7"/>
            </p:custDataLst>
          </p:nvPr>
        </p:nvSpPr>
        <p:spPr>
          <a:xfrm rot="16200000" flipH="1" flipV="1">
            <a:off x="2733739" y="3003957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1" name="文本框 8"/>
          <p:cNvSpPr txBox="1"/>
          <p:nvPr>
            <p:custDataLst>
              <p:tags r:id="rId8"/>
            </p:custDataLst>
          </p:nvPr>
        </p:nvSpPr>
        <p:spPr>
          <a:xfrm>
            <a:off x="1057910" y="4996180"/>
            <a:ext cx="4351020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园内现状：融合教育支持能力存在短板</a:t>
            </a:r>
            <a:endParaRPr lang="zh-CN" altLang="en-US" sz="169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2" name="文本框 9"/>
          <p:cNvSpPr txBox="1"/>
          <p:nvPr>
            <p:custDataLst>
              <p:tags r:id="rId9"/>
            </p:custDataLst>
          </p:nvPr>
        </p:nvSpPr>
        <p:spPr>
          <a:xfrm>
            <a:off x="1058170" y="5457686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普惠性幼儿园在师资融合教育能力、环境适配、家园协同等方面存在短板，难以支撑幼儿发展。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246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高校事务办理的结构性问题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74" name="知鱼-1"/>
          <p:cNvGraphicFramePr/>
          <p:nvPr/>
        </p:nvGraphicFramePr>
        <p:xfrm>
          <a:off x="862113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5" name="知鱼-2"/>
          <p:cNvGraphicFramePr/>
          <p:nvPr/>
        </p:nvGraphicFramePr>
        <p:xfrm>
          <a:off x="3337887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知鱼-3"/>
          <p:cNvCxnSpPr/>
          <p:nvPr/>
        </p:nvCxnSpPr>
        <p:spPr>
          <a:xfrm>
            <a:off x="6112189" y="1413875"/>
            <a:ext cx="0" cy="453594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984041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78" name="知鱼-4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79" name="知鱼-5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0" name="知鱼-6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1" name="知鱼-7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476590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83" name="知鱼-8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4" name="知鱼-9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5" name="知鱼-10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6" name="知鱼-11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87" name="知鱼-12"/>
          <p:cNvSpPr txBox="1"/>
          <p:nvPr/>
        </p:nvSpPr>
        <p:spPr>
          <a:xfrm>
            <a:off x="1946773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88" name="知鱼-13"/>
          <p:cNvSpPr txBox="1"/>
          <p:nvPr/>
        </p:nvSpPr>
        <p:spPr>
          <a:xfrm>
            <a:off x="442031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graphicFrame>
        <p:nvGraphicFramePr>
          <p:cNvPr id="89" name="知鱼-14"/>
          <p:cNvGraphicFramePr/>
          <p:nvPr/>
        </p:nvGraphicFramePr>
        <p:xfrm>
          <a:off x="6119596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" name="知鱼-15"/>
          <p:cNvGraphicFramePr/>
          <p:nvPr/>
        </p:nvGraphicFramePr>
        <p:xfrm>
          <a:off x="8874770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1" name="组合 90"/>
          <p:cNvGrpSpPr/>
          <p:nvPr/>
        </p:nvGrpSpPr>
        <p:grpSpPr>
          <a:xfrm>
            <a:off x="7241524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92" name="知鱼-16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3" name="知鱼-17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4" name="知鱼-18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5" name="知鱼-19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013473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97" name="知鱼-20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8" name="知鱼-21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9" name="知鱼-22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00" name="知鱼-23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101" name="知鱼-24"/>
          <p:cNvSpPr txBox="1"/>
          <p:nvPr/>
        </p:nvSpPr>
        <p:spPr>
          <a:xfrm>
            <a:off x="720425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2" name="知鱼-25"/>
          <p:cNvSpPr txBox="1"/>
          <p:nvPr/>
        </p:nvSpPr>
        <p:spPr>
          <a:xfrm>
            <a:off x="9957199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3" name="文本框 31"/>
          <p:cNvSpPr txBox="1"/>
          <p:nvPr/>
        </p:nvSpPr>
        <p:spPr>
          <a:xfrm>
            <a:off x="1387054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事务复杂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4" name="文本框 32"/>
          <p:cNvSpPr txBox="1"/>
          <p:nvPr/>
        </p:nvSpPr>
        <p:spPr>
          <a:xfrm>
            <a:off x="1179195" y="4553585"/>
            <a:ext cx="2159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请假、报销、用章、场地、车辆、社团等十余种流程并存，每类字段与审批规则各异，申请人难以准确理解填报要求。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5" name="文本框 31"/>
          <p:cNvSpPr txBox="1"/>
          <p:nvPr/>
        </p:nvSpPr>
        <p:spPr>
          <a:xfrm>
            <a:off x="3755390" y="4128770"/>
            <a:ext cx="182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信息成本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6" name="文本框 32"/>
          <p:cNvSpPr txBox="1"/>
          <p:nvPr/>
        </p:nvSpPr>
        <p:spPr>
          <a:xfrm>
            <a:off x="3555365" y="4590415"/>
            <a:ext cx="22561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学生不清楚材料清单与政策依据，常需反复咨询辅导员或部门，单次申请平均耗时超30分钟，退回修改率超40%。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7" name="文本框 31"/>
          <p:cNvSpPr txBox="1"/>
          <p:nvPr/>
        </p:nvSpPr>
        <p:spPr>
          <a:xfrm>
            <a:off x="6718659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审批负担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8" name="文本框 32"/>
          <p:cNvSpPr txBox="1"/>
          <p:nvPr/>
        </p:nvSpPr>
        <p:spPr>
          <a:xfrm>
            <a:off x="6522720" y="4553585"/>
            <a:ext cx="21469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审批人需手工核查材料、查阅制度、撰写意见，高峰期日均处理20+条申请，重复性审核占用大量专业判断时间。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9" name="文本框 31"/>
          <p:cNvSpPr txBox="1"/>
          <p:nvPr/>
        </p:nvSpPr>
        <p:spPr>
          <a:xfrm>
            <a:off x="9351053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责任敏感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0" name="文本框 32"/>
          <p:cNvSpPr txBox="1"/>
          <p:nvPr/>
        </p:nvSpPr>
        <p:spPr>
          <a:xfrm>
            <a:off x="9053195" y="4553585"/>
            <a:ext cx="24123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高校审批涉及学籍、经费、安全等敏感事项，AI不宜直接替代行政决策，需要可追溯、可解释的人机协同机制。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政策落地有需求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国家推进学前融合教育政策，要求保障特殊需要儿童入园权益，但针对轻度语言发育迟缓儿童的日常互动支持，缺乏可直接参考的落地路径。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儿童发展待支持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轻度语言发育迟缓儿童在幼儿园集体活动中，常因表达弱出现被动参与或回避互动，长期缺乏支持会影响其语言发展与社交自信。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教师实操缺策略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多数幼儿园教师接受过融合教育基础培训，但面对轻度语言发育迟缓儿童的日常互动，仍缺乏即时、低门槛的支持技巧，难以兼顾不同儿童需求。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现有研究缺日常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当前相关研究多聚焦轻度语言发育迟缓儿童的专项干预，针对幼儿园日常互动场景的支持策略研究较少，与教师实际工作脱节。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5690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从单点工具到完整平台的系统架构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02811" y="2021871"/>
            <a:ext cx="4186378" cy="4021881"/>
            <a:chOff x="3922247" y="1510219"/>
            <a:chExt cx="4348779" cy="4177903"/>
          </a:xfrm>
        </p:grpSpPr>
        <p:grpSp>
          <p:nvGrpSpPr>
            <p:cNvPr id="4" name="组合 3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>
                <p:custDataLst>
                  <p:tags r:id="rId2"/>
                </p:custDataLst>
              </p:nvPr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6" name="Freeform 7"/>
              <p:cNvSpPr/>
              <p:nvPr>
                <p:custDataLst>
                  <p:tags r:id="rId3"/>
                </p:custDataLst>
              </p:nvPr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7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9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10" name="Freeform 11"/>
            <p:cNvSpPr/>
            <p:nvPr>
              <p:custDataLst>
                <p:tags r:id="rId7"/>
              </p:custDataLst>
            </p:nvPr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5272607" y="2678015"/>
            <a:ext cx="284978" cy="322595"/>
            <a:chOff x="2333625" y="2174876"/>
            <a:chExt cx="396875" cy="449263"/>
          </a:xfrm>
          <a:solidFill>
            <a:schemeClr val="accent2"/>
          </a:solidFill>
        </p:grpSpPr>
        <p:sp>
          <p:nvSpPr>
            <p:cNvPr id="12" name="Freeform 25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3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4" name="Freeform 25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5" name="Freeform 257"/>
            <p:cNvSpPr/>
            <p:nvPr>
              <p:custDataLst>
                <p:tags r:id="rId11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6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4621155" y="3805433"/>
            <a:ext cx="310057" cy="321456"/>
            <a:chOff x="592137" y="3146426"/>
            <a:chExt cx="431800" cy="447675"/>
          </a:xfrm>
          <a:solidFill>
            <a:schemeClr val="accent1"/>
          </a:solidFill>
        </p:grpSpPr>
        <p:sp>
          <p:nvSpPr>
            <p:cNvPr id="18" name="Freeform 5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3" name="Freeform 65"/>
            <p:cNvSpPr/>
            <p:nvPr>
              <p:custDataLst>
                <p:tags r:id="rId15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270896" y="5022533"/>
            <a:ext cx="258761" cy="321457"/>
            <a:chOff x="3213100" y="3146426"/>
            <a:chExt cx="360363" cy="447675"/>
          </a:xfrm>
          <a:solidFill>
            <a:schemeClr val="accent2"/>
          </a:solidFill>
        </p:grpSpPr>
        <p:sp>
          <p:nvSpPr>
            <p:cNvPr id="28" name="Freeform 1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9" name="Freeform 132"/>
            <p:cNvSpPr/>
            <p:nvPr>
              <p:custDataLst>
                <p:tags r:id="rId19"/>
              </p:custDataLst>
            </p:nvPr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0" name="Freeform 133"/>
            <p:cNvSpPr/>
            <p:nvPr>
              <p:custDataLst>
                <p:tags r:id="rId20"/>
              </p:custDataLst>
            </p:nvPr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5" name="Freeform 139"/>
            <p:cNvSpPr/>
            <p:nvPr>
              <p:custDataLst>
                <p:tags r:id="rId23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6599584" y="2685685"/>
            <a:ext cx="260529" cy="314925"/>
            <a:chOff x="744538" y="2809875"/>
            <a:chExt cx="433387" cy="523875"/>
          </a:xfrm>
          <a:solidFill>
            <a:schemeClr val="accent1"/>
          </a:solidFill>
        </p:grpSpPr>
        <p:sp>
          <p:nvSpPr>
            <p:cNvPr id="38" name="Freeform 5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56"/>
            <p:cNvSpPr/>
            <p:nvPr>
              <p:custDataLst>
                <p:tags r:id="rId26"/>
              </p:custDataLst>
            </p:nvPr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7239318" y="3854151"/>
            <a:ext cx="313971" cy="269118"/>
            <a:chOff x="3289300" y="2847975"/>
            <a:chExt cx="522287" cy="447675"/>
          </a:xfrm>
          <a:solidFill>
            <a:schemeClr val="accent2"/>
          </a:solidFill>
        </p:grpSpPr>
        <p:sp>
          <p:nvSpPr>
            <p:cNvPr id="41" name="Freeform 6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2" name="Freeform 65"/>
            <p:cNvSpPr/>
            <p:nvPr>
              <p:custDataLst>
                <p:tags r:id="rId29"/>
              </p:custDataLst>
            </p:nvPr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0"/>
            </p:custDataLst>
          </p:nvPr>
        </p:nvGrpSpPr>
        <p:grpSpPr>
          <a:xfrm>
            <a:off x="6583533" y="5013234"/>
            <a:ext cx="271300" cy="321456"/>
            <a:chOff x="4071937" y="3146426"/>
            <a:chExt cx="377825" cy="447675"/>
          </a:xfrm>
          <a:solidFill>
            <a:schemeClr val="accent1"/>
          </a:solidFill>
        </p:grpSpPr>
        <p:sp>
          <p:nvSpPr>
            <p:cNvPr id="44" name="Freeform 36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Freeform 44"/>
            <p:cNvSpPr/>
            <p:nvPr>
              <p:custDataLst>
                <p:tags r:id="rId34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5"/>
            </p:custDataLst>
          </p:nvPr>
        </p:nvSpPr>
        <p:spPr>
          <a:xfrm>
            <a:off x="8095928" y="198549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React 18 + TypeScript + 玻璃拟态设计系统，19条路由覆盖全角色工作台。</a:t>
            </a:r>
            <a:r>
              <a:rPr lang="en-US" altLang="zh-CN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/>
            </a: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/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方正宝黑体 简 Medium" panose="02010600010101010101" charset="-122"/>
            </a:endParaRPr>
          </a:p>
        </p:txBody>
      </p:sp>
      <p:sp>
        <p:nvSpPr>
          <p:cNvPr id="52" name="矩形 51"/>
          <p:cNvSpPr/>
          <p:nvPr>
            <p:custDataLst>
              <p:tags r:id="rId36"/>
            </p:custDataLst>
          </p:nvPr>
        </p:nvSpPr>
        <p:spPr>
          <a:xfrm>
            <a:off x="8079764" y="160677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表现层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7"/>
            </p:custDataLst>
          </p:nvPr>
        </p:nvSpPr>
        <p:spPr>
          <a:xfrm>
            <a:off x="8128834" y="3727096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FastAPI + SQLAlchemy，14个Router模块，业务逻辑分层到Service层。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4" name="矩形 53"/>
          <p:cNvSpPr/>
          <p:nvPr>
            <p:custDataLst>
              <p:tags r:id="rId38"/>
            </p:custDataLst>
          </p:nvPr>
        </p:nvSpPr>
        <p:spPr>
          <a:xfrm>
            <a:off x="8087270" y="3348380"/>
            <a:ext cx="2320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服务层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9"/>
            </p:custDataLst>
          </p:nvPr>
        </p:nvSpPr>
        <p:spPr>
          <a:xfrm>
            <a:off x="8144998" y="555647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云端LLM语义抽取 + 本地Qwen3-14B合规分析 + OCR + RAG政策检索 + 规则兜底。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40"/>
            </p:custDataLst>
          </p:nvPr>
        </p:nvSpPr>
        <p:spPr>
          <a:xfrm>
            <a:off x="8103434" y="517775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智能层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1"/>
            </p:custDataLst>
          </p:nvPr>
        </p:nvSpPr>
        <p:spPr>
          <a:xfrm>
            <a:off x="401088" y="554494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16张核心表：用户、审批、通知、资源、日志、Key池，SQLAlchemy ORM管理。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8" name="矩形 57"/>
          <p:cNvSpPr/>
          <p:nvPr>
            <p:custDataLst>
              <p:tags r:id="rId42"/>
            </p:custDataLst>
          </p:nvPr>
        </p:nvSpPr>
        <p:spPr>
          <a:xfrm>
            <a:off x="1430561" y="517892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数据层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3"/>
            </p:custDataLst>
          </p:nvPr>
        </p:nvSpPr>
        <p:spPr>
          <a:xfrm>
            <a:off x="335589" y="3769072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健康检查、结构化日志、Redis缓存、API Key池故障转移、文件安全校验。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44"/>
            </p:custDataLst>
          </p:nvPr>
        </p:nvSpPr>
        <p:spPr>
          <a:xfrm>
            <a:off x="1341567" y="3390356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运维层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5"/>
            </p:custDataLst>
          </p:nvPr>
        </p:nvSpPr>
        <p:spPr>
          <a:xfrm>
            <a:off x="270090" y="1993204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JWT + bcrypt + Fernet加密 + MIME魔数校验 + 软删除 + 审计日志全链路覆盖。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2" name="矩形 61"/>
          <p:cNvSpPr/>
          <p:nvPr>
            <p:custDataLst>
              <p:tags r:id="rId46"/>
            </p:custDataLst>
          </p:nvPr>
        </p:nvSpPr>
        <p:spPr>
          <a:xfrm>
            <a:off x="1940913" y="1614488"/>
            <a:ext cx="2015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安全层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56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中小学数学项目式学习中教研融合的路径与效果研究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862614" y="226252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flipV="1">
            <a:off x="3513338" y="3020683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6164062" y="2252779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flipV="1">
            <a:off x="8814785" y="301093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3"/>
          <p:cNvSpPr txBox="1"/>
          <p:nvPr/>
        </p:nvSpPr>
        <p:spPr>
          <a:xfrm flipH="1">
            <a:off x="10817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/>
        </p:nvSpPr>
        <p:spPr>
          <a:xfrm flipH="1">
            <a:off x="641264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教师需求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文本框 22"/>
          <p:cNvSpPr txBox="1"/>
          <p:nvPr/>
        </p:nvSpPr>
        <p:spPr>
          <a:xfrm flipH="1">
            <a:off x="3732530" y="1510665"/>
            <a:ext cx="219075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传统数学教学重解题轻实践，教研若不围绕项目设计开展，难以帮助教师打通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知识传授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实际应用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的衔接。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5" name="signing-a-contract_69920"/>
          <p:cNvSpPr>
            <a:spLocks noChangeAspect="1"/>
          </p:cNvSpPr>
          <p:nvPr/>
        </p:nvSpPr>
        <p:spPr bwMode="auto">
          <a:xfrm>
            <a:off x="1871641" y="2455808"/>
            <a:ext cx="496545" cy="400110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6" name="user_274180"/>
          <p:cNvSpPr>
            <a:spLocks noChangeAspect="1"/>
          </p:cNvSpPr>
          <p:nvPr/>
        </p:nvSpPr>
        <p:spPr bwMode="auto">
          <a:xfrm>
            <a:off x="4549964" y="4632704"/>
            <a:ext cx="413480" cy="412864"/>
          </a:xfrm>
          <a:custGeom>
            <a:avLst/>
            <a:gdLst>
              <a:gd name="connsiteX0" fmla="*/ 518971 w 607627"/>
              <a:gd name="connsiteY0" fmla="*/ 505595 h 606722"/>
              <a:gd name="connsiteX1" fmla="*/ 506331 w 607627"/>
              <a:gd name="connsiteY1" fmla="*/ 518214 h 606722"/>
              <a:gd name="connsiteX2" fmla="*/ 506331 w 607627"/>
              <a:gd name="connsiteY2" fmla="*/ 568777 h 606722"/>
              <a:gd name="connsiteX3" fmla="*/ 518971 w 607627"/>
              <a:gd name="connsiteY3" fmla="*/ 581396 h 606722"/>
              <a:gd name="connsiteX4" fmla="*/ 569619 w 607627"/>
              <a:gd name="connsiteY4" fmla="*/ 581396 h 606722"/>
              <a:gd name="connsiteX5" fmla="*/ 582259 w 607627"/>
              <a:gd name="connsiteY5" fmla="*/ 568777 h 606722"/>
              <a:gd name="connsiteX6" fmla="*/ 582259 w 607627"/>
              <a:gd name="connsiteY6" fmla="*/ 518214 h 606722"/>
              <a:gd name="connsiteX7" fmla="*/ 569619 w 607627"/>
              <a:gd name="connsiteY7" fmla="*/ 505595 h 606722"/>
              <a:gd name="connsiteX8" fmla="*/ 518971 w 607627"/>
              <a:gd name="connsiteY8" fmla="*/ 480269 h 606722"/>
              <a:gd name="connsiteX9" fmla="*/ 569619 w 607627"/>
              <a:gd name="connsiteY9" fmla="*/ 480269 h 606722"/>
              <a:gd name="connsiteX10" fmla="*/ 607627 w 607627"/>
              <a:gd name="connsiteY10" fmla="*/ 518214 h 606722"/>
              <a:gd name="connsiteX11" fmla="*/ 607627 w 607627"/>
              <a:gd name="connsiteY11" fmla="*/ 568777 h 606722"/>
              <a:gd name="connsiteX12" fmla="*/ 569619 w 607627"/>
              <a:gd name="connsiteY12" fmla="*/ 606722 h 606722"/>
              <a:gd name="connsiteX13" fmla="*/ 518971 w 607627"/>
              <a:gd name="connsiteY13" fmla="*/ 606722 h 606722"/>
              <a:gd name="connsiteX14" fmla="*/ 480962 w 607627"/>
              <a:gd name="connsiteY14" fmla="*/ 568777 h 606722"/>
              <a:gd name="connsiteX15" fmla="*/ 480962 w 607627"/>
              <a:gd name="connsiteY15" fmla="*/ 518214 h 606722"/>
              <a:gd name="connsiteX16" fmla="*/ 518971 w 607627"/>
              <a:gd name="connsiteY16" fmla="*/ 480269 h 606722"/>
              <a:gd name="connsiteX17" fmla="*/ 518971 w 607627"/>
              <a:gd name="connsiteY17" fmla="*/ 278092 h 606722"/>
              <a:gd name="connsiteX18" fmla="*/ 506331 w 607627"/>
              <a:gd name="connsiteY18" fmla="*/ 290711 h 606722"/>
              <a:gd name="connsiteX19" fmla="*/ 506331 w 607627"/>
              <a:gd name="connsiteY19" fmla="*/ 341274 h 606722"/>
              <a:gd name="connsiteX20" fmla="*/ 518971 w 607627"/>
              <a:gd name="connsiteY20" fmla="*/ 353893 h 606722"/>
              <a:gd name="connsiteX21" fmla="*/ 569619 w 607627"/>
              <a:gd name="connsiteY21" fmla="*/ 353893 h 606722"/>
              <a:gd name="connsiteX22" fmla="*/ 582259 w 607627"/>
              <a:gd name="connsiteY22" fmla="*/ 341274 h 606722"/>
              <a:gd name="connsiteX23" fmla="*/ 582259 w 607627"/>
              <a:gd name="connsiteY23" fmla="*/ 290711 h 606722"/>
              <a:gd name="connsiteX24" fmla="*/ 569619 w 607627"/>
              <a:gd name="connsiteY24" fmla="*/ 278092 h 606722"/>
              <a:gd name="connsiteX25" fmla="*/ 518971 w 607627"/>
              <a:gd name="connsiteY25" fmla="*/ 252766 h 606722"/>
              <a:gd name="connsiteX26" fmla="*/ 569619 w 607627"/>
              <a:gd name="connsiteY26" fmla="*/ 252766 h 606722"/>
              <a:gd name="connsiteX27" fmla="*/ 607627 w 607627"/>
              <a:gd name="connsiteY27" fmla="*/ 290711 h 606722"/>
              <a:gd name="connsiteX28" fmla="*/ 607627 w 607627"/>
              <a:gd name="connsiteY28" fmla="*/ 341274 h 606722"/>
              <a:gd name="connsiteX29" fmla="*/ 569619 w 607627"/>
              <a:gd name="connsiteY29" fmla="*/ 379219 h 606722"/>
              <a:gd name="connsiteX30" fmla="*/ 518971 w 607627"/>
              <a:gd name="connsiteY30" fmla="*/ 379219 h 606722"/>
              <a:gd name="connsiteX31" fmla="*/ 480962 w 607627"/>
              <a:gd name="connsiteY31" fmla="*/ 341274 h 606722"/>
              <a:gd name="connsiteX32" fmla="*/ 480962 w 607627"/>
              <a:gd name="connsiteY32" fmla="*/ 290711 h 606722"/>
              <a:gd name="connsiteX33" fmla="*/ 518971 w 607627"/>
              <a:gd name="connsiteY33" fmla="*/ 252766 h 606722"/>
              <a:gd name="connsiteX34" fmla="*/ 81603 w 607627"/>
              <a:gd name="connsiteY34" fmla="*/ 176955 h 606722"/>
              <a:gd name="connsiteX35" fmla="*/ 42180 w 607627"/>
              <a:gd name="connsiteY35" fmla="*/ 215968 h 606722"/>
              <a:gd name="connsiteX36" fmla="*/ 25449 w 607627"/>
              <a:gd name="connsiteY36" fmla="*/ 362778 h 606722"/>
              <a:gd name="connsiteX37" fmla="*/ 29543 w 607627"/>
              <a:gd name="connsiteY37" fmla="*/ 376553 h 606722"/>
              <a:gd name="connsiteX38" fmla="*/ 38798 w 607627"/>
              <a:gd name="connsiteY38" fmla="*/ 380907 h 606722"/>
              <a:gd name="connsiteX39" fmla="*/ 48409 w 607627"/>
              <a:gd name="connsiteY39" fmla="*/ 380907 h 606722"/>
              <a:gd name="connsiteX40" fmla="*/ 61046 w 607627"/>
              <a:gd name="connsiteY40" fmla="*/ 392549 h 606722"/>
              <a:gd name="connsiteX41" fmla="*/ 75017 w 607627"/>
              <a:gd name="connsiteY41" fmla="*/ 581395 h 606722"/>
              <a:gd name="connsiteX42" fmla="*/ 152796 w 607627"/>
              <a:gd name="connsiteY42" fmla="*/ 581395 h 606722"/>
              <a:gd name="connsiteX43" fmla="*/ 166768 w 607627"/>
              <a:gd name="connsiteY43" fmla="*/ 392549 h 606722"/>
              <a:gd name="connsiteX44" fmla="*/ 179404 w 607627"/>
              <a:gd name="connsiteY44" fmla="*/ 380907 h 606722"/>
              <a:gd name="connsiteX45" fmla="*/ 189016 w 607627"/>
              <a:gd name="connsiteY45" fmla="*/ 380907 h 606722"/>
              <a:gd name="connsiteX46" fmla="*/ 198271 w 607627"/>
              <a:gd name="connsiteY46" fmla="*/ 376553 h 606722"/>
              <a:gd name="connsiteX47" fmla="*/ 202364 w 607627"/>
              <a:gd name="connsiteY47" fmla="*/ 362778 h 606722"/>
              <a:gd name="connsiteX48" fmla="*/ 185634 w 607627"/>
              <a:gd name="connsiteY48" fmla="*/ 215968 h 606722"/>
              <a:gd name="connsiteX49" fmla="*/ 146211 w 607627"/>
              <a:gd name="connsiteY49" fmla="*/ 176955 h 606722"/>
              <a:gd name="connsiteX50" fmla="*/ 81603 w 607627"/>
              <a:gd name="connsiteY50" fmla="*/ 151716 h 606722"/>
              <a:gd name="connsiteX51" fmla="*/ 146211 w 607627"/>
              <a:gd name="connsiteY51" fmla="*/ 151716 h 606722"/>
              <a:gd name="connsiteX52" fmla="*/ 210818 w 607627"/>
              <a:gd name="connsiteY52" fmla="*/ 213124 h 606722"/>
              <a:gd name="connsiteX53" fmla="*/ 227549 w 607627"/>
              <a:gd name="connsiteY53" fmla="*/ 359935 h 606722"/>
              <a:gd name="connsiteX54" fmla="*/ 217137 w 607627"/>
              <a:gd name="connsiteY54" fmla="*/ 393349 h 606722"/>
              <a:gd name="connsiteX55" fmla="*/ 191151 w 607627"/>
              <a:gd name="connsiteY55" fmla="*/ 406146 h 606722"/>
              <a:gd name="connsiteX56" fmla="*/ 177180 w 607627"/>
              <a:gd name="connsiteY56" fmla="*/ 594991 h 606722"/>
              <a:gd name="connsiteX57" fmla="*/ 164543 w 607627"/>
              <a:gd name="connsiteY57" fmla="*/ 606722 h 606722"/>
              <a:gd name="connsiteX58" fmla="*/ 63271 w 607627"/>
              <a:gd name="connsiteY58" fmla="*/ 606722 h 606722"/>
              <a:gd name="connsiteX59" fmla="*/ 50634 w 607627"/>
              <a:gd name="connsiteY59" fmla="*/ 594991 h 606722"/>
              <a:gd name="connsiteX60" fmla="*/ 36662 w 607627"/>
              <a:gd name="connsiteY60" fmla="*/ 406146 h 606722"/>
              <a:gd name="connsiteX61" fmla="*/ 10677 w 607627"/>
              <a:gd name="connsiteY61" fmla="*/ 393349 h 606722"/>
              <a:gd name="connsiteX62" fmla="*/ 265 w 607627"/>
              <a:gd name="connsiteY62" fmla="*/ 359935 h 606722"/>
              <a:gd name="connsiteX63" fmla="*/ 17084 w 607627"/>
              <a:gd name="connsiteY63" fmla="*/ 213124 h 606722"/>
              <a:gd name="connsiteX64" fmla="*/ 81603 w 607627"/>
              <a:gd name="connsiteY64" fmla="*/ 151716 h 606722"/>
              <a:gd name="connsiteX65" fmla="*/ 392412 w 607627"/>
              <a:gd name="connsiteY65" fmla="*/ 75787 h 606722"/>
              <a:gd name="connsiteX66" fmla="*/ 443060 w 607627"/>
              <a:gd name="connsiteY66" fmla="*/ 75787 h 606722"/>
              <a:gd name="connsiteX67" fmla="*/ 455700 w 607627"/>
              <a:gd name="connsiteY67" fmla="*/ 88497 h 606722"/>
              <a:gd name="connsiteX68" fmla="*/ 443060 w 607627"/>
              <a:gd name="connsiteY68" fmla="*/ 101119 h 606722"/>
              <a:gd name="connsiteX69" fmla="*/ 392412 w 607627"/>
              <a:gd name="connsiteY69" fmla="*/ 101119 h 606722"/>
              <a:gd name="connsiteX70" fmla="*/ 354404 w 607627"/>
              <a:gd name="connsiteY70" fmla="*/ 138982 h 606722"/>
              <a:gd name="connsiteX71" fmla="*/ 354404 w 607627"/>
              <a:gd name="connsiteY71" fmla="*/ 303326 h 606722"/>
              <a:gd name="connsiteX72" fmla="*/ 443060 w 607627"/>
              <a:gd name="connsiteY72" fmla="*/ 303326 h 606722"/>
              <a:gd name="connsiteX73" fmla="*/ 455700 w 607627"/>
              <a:gd name="connsiteY73" fmla="*/ 316036 h 606722"/>
              <a:gd name="connsiteX74" fmla="*/ 443060 w 607627"/>
              <a:gd name="connsiteY74" fmla="*/ 328658 h 606722"/>
              <a:gd name="connsiteX75" fmla="*/ 354404 w 607627"/>
              <a:gd name="connsiteY75" fmla="*/ 328658 h 606722"/>
              <a:gd name="connsiteX76" fmla="*/ 354404 w 607627"/>
              <a:gd name="connsiteY76" fmla="*/ 493002 h 606722"/>
              <a:gd name="connsiteX77" fmla="*/ 392412 w 607627"/>
              <a:gd name="connsiteY77" fmla="*/ 530865 h 606722"/>
              <a:gd name="connsiteX78" fmla="*/ 443060 w 607627"/>
              <a:gd name="connsiteY78" fmla="*/ 530865 h 606722"/>
              <a:gd name="connsiteX79" fmla="*/ 455700 w 607627"/>
              <a:gd name="connsiteY79" fmla="*/ 543576 h 606722"/>
              <a:gd name="connsiteX80" fmla="*/ 443060 w 607627"/>
              <a:gd name="connsiteY80" fmla="*/ 556197 h 606722"/>
              <a:gd name="connsiteX81" fmla="*/ 392412 w 607627"/>
              <a:gd name="connsiteY81" fmla="*/ 556197 h 606722"/>
              <a:gd name="connsiteX82" fmla="*/ 329124 w 607627"/>
              <a:gd name="connsiteY82" fmla="*/ 493002 h 606722"/>
              <a:gd name="connsiteX83" fmla="*/ 329124 w 607627"/>
              <a:gd name="connsiteY83" fmla="*/ 328658 h 606722"/>
              <a:gd name="connsiteX84" fmla="*/ 265836 w 607627"/>
              <a:gd name="connsiteY84" fmla="*/ 328658 h 606722"/>
              <a:gd name="connsiteX85" fmla="*/ 253107 w 607627"/>
              <a:gd name="connsiteY85" fmla="*/ 316036 h 606722"/>
              <a:gd name="connsiteX86" fmla="*/ 265836 w 607627"/>
              <a:gd name="connsiteY86" fmla="*/ 303326 h 606722"/>
              <a:gd name="connsiteX87" fmla="*/ 329124 w 607627"/>
              <a:gd name="connsiteY87" fmla="*/ 303326 h 606722"/>
              <a:gd name="connsiteX88" fmla="*/ 329124 w 607627"/>
              <a:gd name="connsiteY88" fmla="*/ 138982 h 606722"/>
              <a:gd name="connsiteX89" fmla="*/ 392412 w 607627"/>
              <a:gd name="connsiteY89" fmla="*/ 75787 h 606722"/>
              <a:gd name="connsiteX90" fmla="*/ 518971 w 607627"/>
              <a:gd name="connsiteY90" fmla="*/ 50588 h 606722"/>
              <a:gd name="connsiteX91" fmla="*/ 506331 w 607627"/>
              <a:gd name="connsiteY91" fmla="*/ 63207 h 606722"/>
              <a:gd name="connsiteX92" fmla="*/ 506331 w 607627"/>
              <a:gd name="connsiteY92" fmla="*/ 113770 h 606722"/>
              <a:gd name="connsiteX93" fmla="*/ 518971 w 607627"/>
              <a:gd name="connsiteY93" fmla="*/ 126389 h 606722"/>
              <a:gd name="connsiteX94" fmla="*/ 569619 w 607627"/>
              <a:gd name="connsiteY94" fmla="*/ 126389 h 606722"/>
              <a:gd name="connsiteX95" fmla="*/ 582259 w 607627"/>
              <a:gd name="connsiteY95" fmla="*/ 113770 h 606722"/>
              <a:gd name="connsiteX96" fmla="*/ 582259 w 607627"/>
              <a:gd name="connsiteY96" fmla="*/ 63207 h 606722"/>
              <a:gd name="connsiteX97" fmla="*/ 569619 w 607627"/>
              <a:gd name="connsiteY97" fmla="*/ 50588 h 606722"/>
              <a:gd name="connsiteX98" fmla="*/ 518971 w 607627"/>
              <a:gd name="connsiteY98" fmla="*/ 25262 h 606722"/>
              <a:gd name="connsiteX99" fmla="*/ 569619 w 607627"/>
              <a:gd name="connsiteY99" fmla="*/ 25262 h 606722"/>
              <a:gd name="connsiteX100" fmla="*/ 607627 w 607627"/>
              <a:gd name="connsiteY100" fmla="*/ 63207 h 606722"/>
              <a:gd name="connsiteX101" fmla="*/ 607627 w 607627"/>
              <a:gd name="connsiteY101" fmla="*/ 113770 h 606722"/>
              <a:gd name="connsiteX102" fmla="*/ 569619 w 607627"/>
              <a:gd name="connsiteY102" fmla="*/ 151715 h 606722"/>
              <a:gd name="connsiteX103" fmla="*/ 518971 w 607627"/>
              <a:gd name="connsiteY103" fmla="*/ 151715 h 606722"/>
              <a:gd name="connsiteX104" fmla="*/ 480962 w 607627"/>
              <a:gd name="connsiteY104" fmla="*/ 113770 h 606722"/>
              <a:gd name="connsiteX105" fmla="*/ 480962 w 607627"/>
              <a:gd name="connsiteY105" fmla="*/ 63207 h 606722"/>
              <a:gd name="connsiteX106" fmla="*/ 518971 w 607627"/>
              <a:gd name="connsiteY106" fmla="*/ 25262 h 606722"/>
              <a:gd name="connsiteX107" fmla="*/ 113916 w 607627"/>
              <a:gd name="connsiteY107" fmla="*/ 25241 h 606722"/>
              <a:gd name="connsiteX108" fmla="*/ 75923 w 607627"/>
              <a:gd name="connsiteY108" fmla="*/ 63191 h 606722"/>
              <a:gd name="connsiteX109" fmla="*/ 113916 w 607627"/>
              <a:gd name="connsiteY109" fmla="*/ 101142 h 606722"/>
              <a:gd name="connsiteX110" fmla="*/ 151909 w 607627"/>
              <a:gd name="connsiteY110" fmla="*/ 63191 h 606722"/>
              <a:gd name="connsiteX111" fmla="*/ 113916 w 607627"/>
              <a:gd name="connsiteY111" fmla="*/ 25241 h 606722"/>
              <a:gd name="connsiteX112" fmla="*/ 113916 w 607627"/>
              <a:gd name="connsiteY112" fmla="*/ 0 h 606722"/>
              <a:gd name="connsiteX113" fmla="*/ 177178 w 607627"/>
              <a:gd name="connsiteY113" fmla="*/ 63191 h 606722"/>
              <a:gd name="connsiteX114" fmla="*/ 113916 w 607627"/>
              <a:gd name="connsiteY114" fmla="*/ 126383 h 606722"/>
              <a:gd name="connsiteX115" fmla="*/ 50654 w 607627"/>
              <a:gd name="connsiteY115" fmla="*/ 63191 h 606722"/>
              <a:gd name="connsiteX116" fmla="*/ 113916 w 607627"/>
              <a:gd name="connsiteY11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607627" h="606722">
                <a:moveTo>
                  <a:pt x="518971" y="505595"/>
                </a:moveTo>
                <a:cubicBezTo>
                  <a:pt x="512028" y="505595"/>
                  <a:pt x="506331" y="511282"/>
                  <a:pt x="506331" y="518214"/>
                </a:cubicBezTo>
                <a:lnTo>
                  <a:pt x="506331" y="568777"/>
                </a:lnTo>
                <a:cubicBezTo>
                  <a:pt x="506331" y="575797"/>
                  <a:pt x="512028" y="581396"/>
                  <a:pt x="518971" y="581396"/>
                </a:cubicBezTo>
                <a:lnTo>
                  <a:pt x="569619" y="581396"/>
                </a:lnTo>
                <a:cubicBezTo>
                  <a:pt x="576562" y="581396"/>
                  <a:pt x="582259" y="575797"/>
                  <a:pt x="582259" y="568777"/>
                </a:cubicBezTo>
                <a:lnTo>
                  <a:pt x="582259" y="518214"/>
                </a:lnTo>
                <a:cubicBezTo>
                  <a:pt x="582259" y="511282"/>
                  <a:pt x="576562" y="505595"/>
                  <a:pt x="569619" y="505595"/>
                </a:cubicBezTo>
                <a:close/>
                <a:moveTo>
                  <a:pt x="518971" y="480269"/>
                </a:moveTo>
                <a:lnTo>
                  <a:pt x="569619" y="480269"/>
                </a:lnTo>
                <a:cubicBezTo>
                  <a:pt x="590537" y="480269"/>
                  <a:pt x="607627" y="497331"/>
                  <a:pt x="607627" y="518214"/>
                </a:cubicBezTo>
                <a:lnTo>
                  <a:pt x="607627" y="568777"/>
                </a:lnTo>
                <a:cubicBezTo>
                  <a:pt x="607627" y="589660"/>
                  <a:pt x="590537" y="606722"/>
                  <a:pt x="569619" y="606722"/>
                </a:cubicBezTo>
                <a:lnTo>
                  <a:pt x="518971" y="606722"/>
                </a:lnTo>
                <a:cubicBezTo>
                  <a:pt x="498053" y="606722"/>
                  <a:pt x="480962" y="589660"/>
                  <a:pt x="480962" y="568777"/>
                </a:cubicBezTo>
                <a:lnTo>
                  <a:pt x="480962" y="518214"/>
                </a:lnTo>
                <a:cubicBezTo>
                  <a:pt x="480962" y="497331"/>
                  <a:pt x="498053" y="480269"/>
                  <a:pt x="518971" y="480269"/>
                </a:cubicBezTo>
                <a:close/>
                <a:moveTo>
                  <a:pt x="518971" y="278092"/>
                </a:moveTo>
                <a:cubicBezTo>
                  <a:pt x="512028" y="278092"/>
                  <a:pt x="506331" y="283779"/>
                  <a:pt x="506331" y="290711"/>
                </a:cubicBezTo>
                <a:lnTo>
                  <a:pt x="506331" y="341274"/>
                </a:lnTo>
                <a:cubicBezTo>
                  <a:pt x="506331" y="348294"/>
                  <a:pt x="512028" y="353893"/>
                  <a:pt x="518971" y="353893"/>
                </a:cubicBezTo>
                <a:lnTo>
                  <a:pt x="569619" y="353893"/>
                </a:lnTo>
                <a:cubicBezTo>
                  <a:pt x="576562" y="353893"/>
                  <a:pt x="582259" y="348294"/>
                  <a:pt x="582259" y="341274"/>
                </a:cubicBezTo>
                <a:lnTo>
                  <a:pt x="582259" y="290711"/>
                </a:lnTo>
                <a:cubicBezTo>
                  <a:pt x="582259" y="283779"/>
                  <a:pt x="576562" y="278092"/>
                  <a:pt x="569619" y="278092"/>
                </a:cubicBezTo>
                <a:close/>
                <a:moveTo>
                  <a:pt x="518971" y="252766"/>
                </a:moveTo>
                <a:lnTo>
                  <a:pt x="569619" y="252766"/>
                </a:lnTo>
                <a:cubicBezTo>
                  <a:pt x="590537" y="252766"/>
                  <a:pt x="607627" y="269828"/>
                  <a:pt x="607627" y="290711"/>
                </a:cubicBezTo>
                <a:lnTo>
                  <a:pt x="607627" y="341274"/>
                </a:lnTo>
                <a:cubicBezTo>
                  <a:pt x="607627" y="362157"/>
                  <a:pt x="590537" y="379219"/>
                  <a:pt x="569619" y="379219"/>
                </a:cubicBezTo>
                <a:lnTo>
                  <a:pt x="518971" y="379219"/>
                </a:lnTo>
                <a:cubicBezTo>
                  <a:pt x="498053" y="379219"/>
                  <a:pt x="480962" y="362157"/>
                  <a:pt x="480962" y="341274"/>
                </a:cubicBezTo>
                <a:lnTo>
                  <a:pt x="480962" y="290711"/>
                </a:lnTo>
                <a:cubicBezTo>
                  <a:pt x="480962" y="269828"/>
                  <a:pt x="498053" y="252766"/>
                  <a:pt x="518971" y="252766"/>
                </a:cubicBezTo>
                <a:close/>
                <a:moveTo>
                  <a:pt x="81603" y="176955"/>
                </a:moveTo>
                <a:cubicBezTo>
                  <a:pt x="61669" y="176955"/>
                  <a:pt x="44760" y="193751"/>
                  <a:pt x="42180" y="215968"/>
                </a:cubicBezTo>
                <a:lnTo>
                  <a:pt x="25449" y="362778"/>
                </a:lnTo>
                <a:cubicBezTo>
                  <a:pt x="24826" y="367933"/>
                  <a:pt x="26339" y="372909"/>
                  <a:pt x="29543" y="376553"/>
                </a:cubicBezTo>
                <a:cubicBezTo>
                  <a:pt x="30967" y="378153"/>
                  <a:pt x="34170" y="380907"/>
                  <a:pt x="38798" y="380907"/>
                </a:cubicBezTo>
                <a:lnTo>
                  <a:pt x="48409" y="380907"/>
                </a:lnTo>
                <a:cubicBezTo>
                  <a:pt x="55083" y="380907"/>
                  <a:pt x="60512" y="385973"/>
                  <a:pt x="61046" y="392549"/>
                </a:cubicBezTo>
                <a:lnTo>
                  <a:pt x="75017" y="581395"/>
                </a:lnTo>
                <a:lnTo>
                  <a:pt x="152796" y="581395"/>
                </a:lnTo>
                <a:lnTo>
                  <a:pt x="166768" y="392549"/>
                </a:lnTo>
                <a:cubicBezTo>
                  <a:pt x="167213" y="385973"/>
                  <a:pt x="172730" y="380907"/>
                  <a:pt x="179404" y="380907"/>
                </a:cubicBezTo>
                <a:lnTo>
                  <a:pt x="189016" y="380907"/>
                </a:lnTo>
                <a:cubicBezTo>
                  <a:pt x="193643" y="380907"/>
                  <a:pt x="196847" y="378153"/>
                  <a:pt x="198271" y="376553"/>
                </a:cubicBezTo>
                <a:cubicBezTo>
                  <a:pt x="201474" y="372909"/>
                  <a:pt x="202987" y="367933"/>
                  <a:pt x="202364" y="362778"/>
                </a:cubicBezTo>
                <a:lnTo>
                  <a:pt x="185634" y="215968"/>
                </a:lnTo>
                <a:cubicBezTo>
                  <a:pt x="183053" y="193751"/>
                  <a:pt x="166145" y="176955"/>
                  <a:pt x="146211" y="176955"/>
                </a:cubicBezTo>
                <a:close/>
                <a:moveTo>
                  <a:pt x="81603" y="151716"/>
                </a:moveTo>
                <a:lnTo>
                  <a:pt x="146211" y="151716"/>
                </a:lnTo>
                <a:cubicBezTo>
                  <a:pt x="179049" y="151716"/>
                  <a:pt x="206814" y="178110"/>
                  <a:pt x="210818" y="213124"/>
                </a:cubicBezTo>
                <a:lnTo>
                  <a:pt x="227549" y="359935"/>
                </a:lnTo>
                <a:cubicBezTo>
                  <a:pt x="228973" y="372198"/>
                  <a:pt x="225146" y="384373"/>
                  <a:pt x="217137" y="393349"/>
                </a:cubicBezTo>
                <a:cubicBezTo>
                  <a:pt x="210285" y="401081"/>
                  <a:pt x="201118" y="405524"/>
                  <a:pt x="191151" y="406146"/>
                </a:cubicBezTo>
                <a:lnTo>
                  <a:pt x="177180" y="594991"/>
                </a:lnTo>
                <a:cubicBezTo>
                  <a:pt x="176646" y="601568"/>
                  <a:pt x="171128" y="606722"/>
                  <a:pt x="164543" y="606722"/>
                </a:cubicBezTo>
                <a:lnTo>
                  <a:pt x="63271" y="606722"/>
                </a:lnTo>
                <a:cubicBezTo>
                  <a:pt x="56685" y="606722"/>
                  <a:pt x="51168" y="601568"/>
                  <a:pt x="50634" y="594991"/>
                </a:cubicBezTo>
                <a:lnTo>
                  <a:pt x="36662" y="406146"/>
                </a:lnTo>
                <a:cubicBezTo>
                  <a:pt x="26695" y="405524"/>
                  <a:pt x="17529" y="401081"/>
                  <a:pt x="10677" y="393349"/>
                </a:cubicBezTo>
                <a:cubicBezTo>
                  <a:pt x="2667" y="384373"/>
                  <a:pt x="-1070" y="372198"/>
                  <a:pt x="265" y="359935"/>
                </a:cubicBezTo>
                <a:lnTo>
                  <a:pt x="17084" y="213124"/>
                </a:lnTo>
                <a:cubicBezTo>
                  <a:pt x="21000" y="178110"/>
                  <a:pt x="48765" y="151716"/>
                  <a:pt x="81603" y="151716"/>
                </a:cubicBezTo>
                <a:close/>
                <a:moveTo>
                  <a:pt x="392412" y="75787"/>
                </a:moveTo>
                <a:lnTo>
                  <a:pt x="443060" y="75787"/>
                </a:lnTo>
                <a:cubicBezTo>
                  <a:pt x="450003" y="75787"/>
                  <a:pt x="455700" y="81475"/>
                  <a:pt x="455700" y="88497"/>
                </a:cubicBezTo>
                <a:cubicBezTo>
                  <a:pt x="455700" y="95430"/>
                  <a:pt x="450003" y="101119"/>
                  <a:pt x="443060" y="101119"/>
                </a:cubicBezTo>
                <a:lnTo>
                  <a:pt x="392412" y="101119"/>
                </a:lnTo>
                <a:cubicBezTo>
                  <a:pt x="371494" y="101119"/>
                  <a:pt x="354404" y="118095"/>
                  <a:pt x="354404" y="138982"/>
                </a:cubicBezTo>
                <a:lnTo>
                  <a:pt x="354404" y="303326"/>
                </a:lnTo>
                <a:lnTo>
                  <a:pt x="443060" y="303326"/>
                </a:lnTo>
                <a:cubicBezTo>
                  <a:pt x="450003" y="303326"/>
                  <a:pt x="455700" y="309015"/>
                  <a:pt x="455700" y="316036"/>
                </a:cubicBezTo>
                <a:cubicBezTo>
                  <a:pt x="455700" y="322969"/>
                  <a:pt x="450003" y="328658"/>
                  <a:pt x="443060" y="328658"/>
                </a:cubicBezTo>
                <a:lnTo>
                  <a:pt x="354404" y="328658"/>
                </a:lnTo>
                <a:lnTo>
                  <a:pt x="354404" y="493002"/>
                </a:lnTo>
                <a:cubicBezTo>
                  <a:pt x="354404" y="513889"/>
                  <a:pt x="371494" y="530865"/>
                  <a:pt x="392412" y="530865"/>
                </a:cubicBezTo>
                <a:lnTo>
                  <a:pt x="443060" y="530865"/>
                </a:lnTo>
                <a:cubicBezTo>
                  <a:pt x="450003" y="530865"/>
                  <a:pt x="455700" y="536554"/>
                  <a:pt x="455700" y="543576"/>
                </a:cubicBezTo>
                <a:cubicBezTo>
                  <a:pt x="455700" y="550509"/>
                  <a:pt x="450003" y="556197"/>
                  <a:pt x="443060" y="556197"/>
                </a:cubicBezTo>
                <a:lnTo>
                  <a:pt x="392412" y="556197"/>
                </a:lnTo>
                <a:cubicBezTo>
                  <a:pt x="357519" y="556197"/>
                  <a:pt x="329124" y="527843"/>
                  <a:pt x="329124" y="493002"/>
                </a:cubicBezTo>
                <a:lnTo>
                  <a:pt x="329124" y="328658"/>
                </a:lnTo>
                <a:lnTo>
                  <a:pt x="265836" y="328658"/>
                </a:lnTo>
                <a:cubicBezTo>
                  <a:pt x="258804" y="328658"/>
                  <a:pt x="253107" y="322969"/>
                  <a:pt x="253107" y="316036"/>
                </a:cubicBezTo>
                <a:cubicBezTo>
                  <a:pt x="253107" y="309015"/>
                  <a:pt x="258804" y="303326"/>
                  <a:pt x="265836" y="303326"/>
                </a:cubicBezTo>
                <a:lnTo>
                  <a:pt x="329124" y="303326"/>
                </a:lnTo>
                <a:lnTo>
                  <a:pt x="329124" y="138982"/>
                </a:lnTo>
                <a:cubicBezTo>
                  <a:pt x="329124" y="104141"/>
                  <a:pt x="357519" y="75787"/>
                  <a:pt x="392412" y="75787"/>
                </a:cubicBezTo>
                <a:close/>
                <a:moveTo>
                  <a:pt x="518971" y="50588"/>
                </a:moveTo>
                <a:cubicBezTo>
                  <a:pt x="512028" y="50588"/>
                  <a:pt x="506331" y="56275"/>
                  <a:pt x="506331" y="63207"/>
                </a:cubicBezTo>
                <a:lnTo>
                  <a:pt x="506331" y="113770"/>
                </a:lnTo>
                <a:cubicBezTo>
                  <a:pt x="506331" y="120790"/>
                  <a:pt x="512028" y="126389"/>
                  <a:pt x="518971" y="126389"/>
                </a:cubicBezTo>
                <a:lnTo>
                  <a:pt x="569619" y="126389"/>
                </a:lnTo>
                <a:cubicBezTo>
                  <a:pt x="576562" y="126389"/>
                  <a:pt x="582259" y="120790"/>
                  <a:pt x="582259" y="113770"/>
                </a:cubicBezTo>
                <a:lnTo>
                  <a:pt x="582259" y="63207"/>
                </a:lnTo>
                <a:cubicBezTo>
                  <a:pt x="582259" y="56275"/>
                  <a:pt x="576562" y="50588"/>
                  <a:pt x="569619" y="50588"/>
                </a:cubicBezTo>
                <a:close/>
                <a:moveTo>
                  <a:pt x="518971" y="25262"/>
                </a:moveTo>
                <a:lnTo>
                  <a:pt x="569619" y="25262"/>
                </a:lnTo>
                <a:cubicBezTo>
                  <a:pt x="590537" y="25262"/>
                  <a:pt x="607627" y="42324"/>
                  <a:pt x="607627" y="63207"/>
                </a:cubicBezTo>
                <a:lnTo>
                  <a:pt x="607627" y="113770"/>
                </a:lnTo>
                <a:cubicBezTo>
                  <a:pt x="607627" y="134653"/>
                  <a:pt x="590537" y="151715"/>
                  <a:pt x="569619" y="151715"/>
                </a:cubicBezTo>
                <a:lnTo>
                  <a:pt x="518971" y="151715"/>
                </a:lnTo>
                <a:cubicBezTo>
                  <a:pt x="498053" y="151715"/>
                  <a:pt x="480962" y="134653"/>
                  <a:pt x="480962" y="113770"/>
                </a:cubicBezTo>
                <a:lnTo>
                  <a:pt x="480962" y="63207"/>
                </a:lnTo>
                <a:cubicBezTo>
                  <a:pt x="480962" y="42324"/>
                  <a:pt x="498053" y="25262"/>
                  <a:pt x="518971" y="25262"/>
                </a:cubicBezTo>
                <a:close/>
                <a:moveTo>
                  <a:pt x="113916" y="25241"/>
                </a:moveTo>
                <a:cubicBezTo>
                  <a:pt x="93006" y="25241"/>
                  <a:pt x="75923" y="42305"/>
                  <a:pt x="75923" y="63191"/>
                </a:cubicBezTo>
                <a:cubicBezTo>
                  <a:pt x="75923" y="84078"/>
                  <a:pt x="93006" y="101142"/>
                  <a:pt x="113916" y="101142"/>
                </a:cubicBezTo>
                <a:cubicBezTo>
                  <a:pt x="134825" y="101142"/>
                  <a:pt x="151909" y="84078"/>
                  <a:pt x="151909" y="63191"/>
                </a:cubicBezTo>
                <a:cubicBezTo>
                  <a:pt x="151909" y="42305"/>
                  <a:pt x="134825" y="25241"/>
                  <a:pt x="113916" y="25241"/>
                </a:cubicBezTo>
                <a:close/>
                <a:moveTo>
                  <a:pt x="113916" y="0"/>
                </a:moveTo>
                <a:cubicBezTo>
                  <a:pt x="148794" y="0"/>
                  <a:pt x="177178" y="28352"/>
                  <a:pt x="177178" y="63191"/>
                </a:cubicBezTo>
                <a:cubicBezTo>
                  <a:pt x="177178" y="98031"/>
                  <a:pt x="148794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7" name="umbrella_99610"/>
          <p:cNvSpPr>
            <a:spLocks noChangeAspect="1"/>
          </p:cNvSpPr>
          <p:nvPr/>
        </p:nvSpPr>
        <p:spPr bwMode="auto">
          <a:xfrm>
            <a:off x="7204613" y="2377880"/>
            <a:ext cx="451743" cy="400110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8" name="settings_342459"/>
          <p:cNvSpPr>
            <a:spLocks noChangeAspect="1"/>
          </p:cNvSpPr>
          <p:nvPr/>
        </p:nvSpPr>
        <p:spPr bwMode="auto">
          <a:xfrm>
            <a:off x="9835298" y="4614509"/>
            <a:ext cx="431709" cy="431059"/>
          </a:xfrm>
          <a:custGeom>
            <a:avLst/>
            <a:gdLst>
              <a:gd name="T0" fmla="*/ 5515 w 6613"/>
              <a:gd name="T1" fmla="*/ 2797 h 6613"/>
              <a:gd name="T2" fmla="*/ 4298 w 6613"/>
              <a:gd name="T3" fmla="*/ 2797 h 6613"/>
              <a:gd name="T4" fmla="*/ 6607 w 6613"/>
              <a:gd name="T5" fmla="*/ 2240 h 6613"/>
              <a:gd name="T6" fmla="*/ 3307 w 6613"/>
              <a:gd name="T7" fmla="*/ 0 h 6613"/>
              <a:gd name="T8" fmla="*/ 2536 w 6613"/>
              <a:gd name="T9" fmla="*/ 2576 h 6613"/>
              <a:gd name="T10" fmla="*/ 1173 w 6613"/>
              <a:gd name="T11" fmla="*/ 2766 h 6613"/>
              <a:gd name="T12" fmla="*/ 312 w 6613"/>
              <a:gd name="T13" fmla="*/ 3627 h 6613"/>
              <a:gd name="T14" fmla="*/ 123 w 6613"/>
              <a:gd name="T15" fmla="*/ 4990 h 6613"/>
              <a:gd name="T16" fmla="*/ 1853 w 6613"/>
              <a:gd name="T17" fmla="*/ 5867 h 6613"/>
              <a:gd name="T18" fmla="*/ 3840 w 6613"/>
              <a:gd name="T19" fmla="*/ 6613 h 6613"/>
              <a:gd name="T20" fmla="*/ 5440 w 6613"/>
              <a:gd name="T21" fmla="*/ 5867 h 6613"/>
              <a:gd name="T22" fmla="*/ 6270 w 6613"/>
              <a:gd name="T23" fmla="*/ 4769 h 6613"/>
              <a:gd name="T24" fmla="*/ 6040 w 6613"/>
              <a:gd name="T25" fmla="*/ 1813 h 6613"/>
              <a:gd name="T26" fmla="*/ 5333 w 6613"/>
              <a:gd name="T27" fmla="*/ 1600 h 6613"/>
              <a:gd name="T28" fmla="*/ 5888 w 6613"/>
              <a:gd name="T29" fmla="*/ 1600 h 6613"/>
              <a:gd name="T30" fmla="*/ 6040 w 6613"/>
              <a:gd name="T31" fmla="*/ 960 h 6613"/>
              <a:gd name="T32" fmla="*/ 3413 w 6613"/>
              <a:gd name="T33" fmla="*/ 320 h 6613"/>
              <a:gd name="T34" fmla="*/ 3413 w 6613"/>
              <a:gd name="T35" fmla="*/ 4276 h 6613"/>
              <a:gd name="T36" fmla="*/ 3200 w 6613"/>
              <a:gd name="T37" fmla="*/ 4907 h 6613"/>
              <a:gd name="T38" fmla="*/ 1313 w 6613"/>
              <a:gd name="T39" fmla="*/ 5377 h 6613"/>
              <a:gd name="T40" fmla="*/ 603 w 6613"/>
              <a:gd name="T41" fmla="*/ 4811 h 6613"/>
              <a:gd name="T42" fmla="*/ 213 w 6613"/>
              <a:gd name="T43" fmla="*/ 3840 h 6613"/>
              <a:gd name="T44" fmla="*/ 424 w 6613"/>
              <a:gd name="T45" fmla="*/ 3330 h 6613"/>
              <a:gd name="T46" fmla="*/ 1387 w 6613"/>
              <a:gd name="T47" fmla="*/ 2919 h 6613"/>
              <a:gd name="T48" fmla="*/ 2289 w 6613"/>
              <a:gd name="T49" fmla="*/ 3021 h 6613"/>
              <a:gd name="T50" fmla="*/ 2773 w 6613"/>
              <a:gd name="T51" fmla="*/ 3512 h 6613"/>
              <a:gd name="T52" fmla="*/ 853 w 6613"/>
              <a:gd name="T53" fmla="*/ 4160 h 6613"/>
              <a:gd name="T54" fmla="*/ 1806 w 6613"/>
              <a:gd name="T55" fmla="*/ 5653 h 6613"/>
              <a:gd name="T56" fmla="*/ 1067 w 6613"/>
              <a:gd name="T57" fmla="*/ 4160 h 6613"/>
              <a:gd name="T58" fmla="*/ 4136 w 6613"/>
              <a:gd name="T59" fmla="*/ 6189 h 6613"/>
              <a:gd name="T60" fmla="*/ 3627 w 6613"/>
              <a:gd name="T61" fmla="*/ 6400 h 6613"/>
              <a:gd name="T62" fmla="*/ 2656 w 6613"/>
              <a:gd name="T63" fmla="*/ 6010 h 6613"/>
              <a:gd name="T64" fmla="*/ 2089 w 6613"/>
              <a:gd name="T65" fmla="*/ 5301 h 6613"/>
              <a:gd name="T66" fmla="*/ 2089 w 6613"/>
              <a:gd name="T67" fmla="*/ 4513 h 6613"/>
              <a:gd name="T68" fmla="*/ 2656 w 6613"/>
              <a:gd name="T69" fmla="*/ 3803 h 6613"/>
              <a:gd name="T70" fmla="*/ 3200 w 6613"/>
              <a:gd name="T71" fmla="*/ 3413 h 6613"/>
              <a:gd name="T72" fmla="*/ 3413 w 6613"/>
              <a:gd name="T73" fmla="*/ 4061 h 6613"/>
              <a:gd name="T74" fmla="*/ 3889 w 6613"/>
              <a:gd name="T75" fmla="*/ 3768 h 6613"/>
              <a:gd name="T76" fmla="*/ 4446 w 6613"/>
              <a:gd name="T77" fmla="*/ 4325 h 6613"/>
              <a:gd name="T78" fmla="*/ 4548 w 6613"/>
              <a:gd name="T79" fmla="*/ 5227 h 6613"/>
              <a:gd name="T80" fmla="*/ 4136 w 6613"/>
              <a:gd name="T81" fmla="*/ 6189 h 6613"/>
              <a:gd name="T82" fmla="*/ 4907 w 6613"/>
              <a:gd name="T83" fmla="*/ 3520 h 6613"/>
              <a:gd name="T84" fmla="*/ 6400 w 6613"/>
              <a:gd name="T85" fmla="*/ 4480 h 6613"/>
              <a:gd name="T86" fmla="*/ 6189 w 6613"/>
              <a:gd name="T87" fmla="*/ 4990 h 6613"/>
              <a:gd name="T88" fmla="*/ 5227 w 6613"/>
              <a:gd name="T89" fmla="*/ 5401 h 6613"/>
              <a:gd name="T90" fmla="*/ 5013 w 6613"/>
              <a:gd name="T91" fmla="*/ 5440 h 6613"/>
              <a:gd name="T92" fmla="*/ 4136 w 6613"/>
              <a:gd name="T93" fmla="*/ 3323 h 6613"/>
              <a:gd name="T94" fmla="*/ 4077 w 6613"/>
              <a:gd name="T95" fmla="*/ 2878 h 6613"/>
              <a:gd name="T96" fmla="*/ 4587 w 6613"/>
              <a:gd name="T97" fmla="*/ 2667 h 6613"/>
              <a:gd name="T98" fmla="*/ 5558 w 6613"/>
              <a:gd name="T99" fmla="*/ 3056 h 6613"/>
              <a:gd name="T100" fmla="*/ 6124 w 6613"/>
              <a:gd name="T101" fmla="*/ 3766 h 6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613" h="6613">
                <a:moveTo>
                  <a:pt x="6301" y="3627"/>
                </a:moveTo>
                <a:cubicBezTo>
                  <a:pt x="6291" y="3602"/>
                  <a:pt x="6281" y="3576"/>
                  <a:pt x="6270" y="3551"/>
                </a:cubicBezTo>
                <a:lnTo>
                  <a:pt x="6491" y="3330"/>
                </a:lnTo>
                <a:lnTo>
                  <a:pt x="5736" y="2576"/>
                </a:lnTo>
                <a:lnTo>
                  <a:pt x="5515" y="2797"/>
                </a:lnTo>
                <a:cubicBezTo>
                  <a:pt x="5490" y="2786"/>
                  <a:pt x="5465" y="2775"/>
                  <a:pt x="5440" y="2766"/>
                </a:cubicBezTo>
                <a:lnTo>
                  <a:pt x="5440" y="2453"/>
                </a:lnTo>
                <a:lnTo>
                  <a:pt x="4373" y="2453"/>
                </a:lnTo>
                <a:lnTo>
                  <a:pt x="4373" y="2766"/>
                </a:lnTo>
                <a:cubicBezTo>
                  <a:pt x="4348" y="2775"/>
                  <a:pt x="4323" y="2786"/>
                  <a:pt x="4298" y="2797"/>
                </a:cubicBezTo>
                <a:lnTo>
                  <a:pt x="4077" y="2576"/>
                </a:lnTo>
                <a:lnTo>
                  <a:pt x="3453" y="3200"/>
                </a:lnTo>
                <a:lnTo>
                  <a:pt x="3413" y="3200"/>
                </a:lnTo>
                <a:lnTo>
                  <a:pt x="3413" y="2240"/>
                </a:lnTo>
                <a:lnTo>
                  <a:pt x="6607" y="2240"/>
                </a:lnTo>
                <a:lnTo>
                  <a:pt x="5998" y="1387"/>
                </a:lnTo>
                <a:lnTo>
                  <a:pt x="6607" y="533"/>
                </a:lnTo>
                <a:lnTo>
                  <a:pt x="3543" y="533"/>
                </a:lnTo>
                <a:cubicBezTo>
                  <a:pt x="3595" y="477"/>
                  <a:pt x="3627" y="402"/>
                  <a:pt x="3627" y="320"/>
                </a:cubicBezTo>
                <a:cubicBezTo>
                  <a:pt x="3627" y="144"/>
                  <a:pt x="3483" y="0"/>
                  <a:pt x="3307" y="0"/>
                </a:cubicBezTo>
                <a:cubicBezTo>
                  <a:pt x="3130" y="0"/>
                  <a:pt x="2987" y="144"/>
                  <a:pt x="2987" y="320"/>
                </a:cubicBezTo>
                <a:cubicBezTo>
                  <a:pt x="2987" y="459"/>
                  <a:pt x="3076" y="576"/>
                  <a:pt x="3200" y="620"/>
                </a:cubicBezTo>
                <a:lnTo>
                  <a:pt x="3200" y="3200"/>
                </a:lnTo>
                <a:lnTo>
                  <a:pt x="3160" y="3200"/>
                </a:lnTo>
                <a:lnTo>
                  <a:pt x="2536" y="2576"/>
                </a:lnTo>
                <a:lnTo>
                  <a:pt x="2315" y="2797"/>
                </a:lnTo>
                <a:cubicBezTo>
                  <a:pt x="2290" y="2786"/>
                  <a:pt x="2265" y="2775"/>
                  <a:pt x="2240" y="2766"/>
                </a:cubicBezTo>
                <a:lnTo>
                  <a:pt x="2240" y="2453"/>
                </a:lnTo>
                <a:lnTo>
                  <a:pt x="1173" y="2453"/>
                </a:lnTo>
                <a:lnTo>
                  <a:pt x="1173" y="2766"/>
                </a:lnTo>
                <a:cubicBezTo>
                  <a:pt x="1148" y="2775"/>
                  <a:pt x="1123" y="2786"/>
                  <a:pt x="1098" y="2797"/>
                </a:cubicBezTo>
                <a:lnTo>
                  <a:pt x="877" y="2576"/>
                </a:lnTo>
                <a:lnTo>
                  <a:pt x="123" y="3330"/>
                </a:lnTo>
                <a:lnTo>
                  <a:pt x="344" y="3551"/>
                </a:lnTo>
                <a:cubicBezTo>
                  <a:pt x="333" y="3576"/>
                  <a:pt x="322" y="3602"/>
                  <a:pt x="312" y="3627"/>
                </a:cubicBezTo>
                <a:lnTo>
                  <a:pt x="0" y="3627"/>
                </a:lnTo>
                <a:lnTo>
                  <a:pt x="0" y="4693"/>
                </a:lnTo>
                <a:lnTo>
                  <a:pt x="312" y="4693"/>
                </a:lnTo>
                <a:cubicBezTo>
                  <a:pt x="322" y="4718"/>
                  <a:pt x="333" y="4744"/>
                  <a:pt x="344" y="4769"/>
                </a:cubicBezTo>
                <a:lnTo>
                  <a:pt x="123" y="4990"/>
                </a:lnTo>
                <a:lnTo>
                  <a:pt x="877" y="5744"/>
                </a:lnTo>
                <a:lnTo>
                  <a:pt x="1098" y="5523"/>
                </a:lnTo>
                <a:cubicBezTo>
                  <a:pt x="1123" y="5534"/>
                  <a:pt x="1148" y="5545"/>
                  <a:pt x="1173" y="5554"/>
                </a:cubicBezTo>
                <a:lnTo>
                  <a:pt x="1173" y="5867"/>
                </a:lnTo>
                <a:lnTo>
                  <a:pt x="1853" y="5867"/>
                </a:lnTo>
                <a:lnTo>
                  <a:pt x="2477" y="6491"/>
                </a:lnTo>
                <a:lnTo>
                  <a:pt x="2698" y="6270"/>
                </a:lnTo>
                <a:cubicBezTo>
                  <a:pt x="2723" y="6281"/>
                  <a:pt x="2748" y="6291"/>
                  <a:pt x="2773" y="6301"/>
                </a:cubicBezTo>
                <a:lnTo>
                  <a:pt x="2773" y="6613"/>
                </a:lnTo>
                <a:lnTo>
                  <a:pt x="3840" y="6613"/>
                </a:lnTo>
                <a:lnTo>
                  <a:pt x="3840" y="6301"/>
                </a:lnTo>
                <a:cubicBezTo>
                  <a:pt x="3865" y="6291"/>
                  <a:pt x="3890" y="6281"/>
                  <a:pt x="3915" y="6269"/>
                </a:cubicBezTo>
                <a:lnTo>
                  <a:pt x="4136" y="6490"/>
                </a:lnTo>
                <a:lnTo>
                  <a:pt x="4760" y="5867"/>
                </a:lnTo>
                <a:lnTo>
                  <a:pt x="5440" y="5867"/>
                </a:lnTo>
                <a:lnTo>
                  <a:pt x="5440" y="5554"/>
                </a:lnTo>
                <a:cubicBezTo>
                  <a:pt x="5465" y="5545"/>
                  <a:pt x="5490" y="5534"/>
                  <a:pt x="5515" y="5523"/>
                </a:cubicBezTo>
                <a:lnTo>
                  <a:pt x="5736" y="5744"/>
                </a:lnTo>
                <a:lnTo>
                  <a:pt x="6491" y="4990"/>
                </a:lnTo>
                <a:lnTo>
                  <a:pt x="6270" y="4769"/>
                </a:lnTo>
                <a:cubicBezTo>
                  <a:pt x="6281" y="4744"/>
                  <a:pt x="6291" y="4718"/>
                  <a:pt x="6301" y="4693"/>
                </a:cubicBezTo>
                <a:lnTo>
                  <a:pt x="6613" y="4693"/>
                </a:lnTo>
                <a:lnTo>
                  <a:pt x="6613" y="3627"/>
                </a:lnTo>
                <a:lnTo>
                  <a:pt x="6301" y="3627"/>
                </a:lnTo>
                <a:close/>
                <a:moveTo>
                  <a:pt x="6040" y="1813"/>
                </a:moveTo>
                <a:lnTo>
                  <a:pt x="6193" y="2027"/>
                </a:lnTo>
                <a:lnTo>
                  <a:pt x="3413" y="2027"/>
                </a:lnTo>
                <a:lnTo>
                  <a:pt x="3413" y="1813"/>
                </a:lnTo>
                <a:lnTo>
                  <a:pt x="5333" y="1813"/>
                </a:lnTo>
                <a:lnTo>
                  <a:pt x="5333" y="1600"/>
                </a:lnTo>
                <a:lnTo>
                  <a:pt x="3413" y="1600"/>
                </a:lnTo>
                <a:lnTo>
                  <a:pt x="3413" y="1173"/>
                </a:lnTo>
                <a:lnTo>
                  <a:pt x="5888" y="1173"/>
                </a:lnTo>
                <a:lnTo>
                  <a:pt x="5736" y="1387"/>
                </a:lnTo>
                <a:lnTo>
                  <a:pt x="5888" y="1600"/>
                </a:lnTo>
                <a:lnTo>
                  <a:pt x="5547" y="1600"/>
                </a:lnTo>
                <a:lnTo>
                  <a:pt x="5547" y="1813"/>
                </a:lnTo>
                <a:lnTo>
                  <a:pt x="6040" y="1813"/>
                </a:lnTo>
                <a:close/>
                <a:moveTo>
                  <a:pt x="6193" y="747"/>
                </a:moveTo>
                <a:lnTo>
                  <a:pt x="6040" y="960"/>
                </a:lnTo>
                <a:lnTo>
                  <a:pt x="3413" y="960"/>
                </a:lnTo>
                <a:lnTo>
                  <a:pt x="3413" y="747"/>
                </a:lnTo>
                <a:lnTo>
                  <a:pt x="6193" y="747"/>
                </a:lnTo>
                <a:close/>
                <a:moveTo>
                  <a:pt x="3307" y="213"/>
                </a:moveTo>
                <a:cubicBezTo>
                  <a:pt x="3365" y="213"/>
                  <a:pt x="3413" y="261"/>
                  <a:pt x="3413" y="320"/>
                </a:cubicBezTo>
                <a:cubicBezTo>
                  <a:pt x="3413" y="379"/>
                  <a:pt x="3365" y="427"/>
                  <a:pt x="3307" y="427"/>
                </a:cubicBezTo>
                <a:cubicBezTo>
                  <a:pt x="3248" y="427"/>
                  <a:pt x="3200" y="379"/>
                  <a:pt x="3200" y="320"/>
                </a:cubicBezTo>
                <a:cubicBezTo>
                  <a:pt x="3200" y="261"/>
                  <a:pt x="3248" y="213"/>
                  <a:pt x="3307" y="213"/>
                </a:cubicBezTo>
                <a:close/>
                <a:moveTo>
                  <a:pt x="3413" y="4907"/>
                </a:moveTo>
                <a:lnTo>
                  <a:pt x="3413" y="4276"/>
                </a:lnTo>
                <a:cubicBezTo>
                  <a:pt x="3716" y="4327"/>
                  <a:pt x="3947" y="4590"/>
                  <a:pt x="3947" y="4907"/>
                </a:cubicBezTo>
                <a:cubicBezTo>
                  <a:pt x="3947" y="5260"/>
                  <a:pt x="3660" y="5547"/>
                  <a:pt x="3307" y="5547"/>
                </a:cubicBezTo>
                <a:cubicBezTo>
                  <a:pt x="2954" y="5547"/>
                  <a:pt x="2667" y="5260"/>
                  <a:pt x="2667" y="4907"/>
                </a:cubicBezTo>
                <a:cubicBezTo>
                  <a:pt x="2667" y="4590"/>
                  <a:pt x="2898" y="4327"/>
                  <a:pt x="3200" y="4276"/>
                </a:cubicBezTo>
                <a:lnTo>
                  <a:pt x="3200" y="4907"/>
                </a:lnTo>
                <a:lnTo>
                  <a:pt x="3413" y="4907"/>
                </a:lnTo>
                <a:close/>
                <a:moveTo>
                  <a:pt x="1806" y="5653"/>
                </a:moveTo>
                <a:lnTo>
                  <a:pt x="1387" y="5653"/>
                </a:lnTo>
                <a:lnTo>
                  <a:pt x="1387" y="5401"/>
                </a:lnTo>
                <a:lnTo>
                  <a:pt x="1313" y="5377"/>
                </a:lnTo>
                <a:cubicBezTo>
                  <a:pt x="1250" y="5357"/>
                  <a:pt x="1187" y="5331"/>
                  <a:pt x="1125" y="5299"/>
                </a:cubicBezTo>
                <a:lnTo>
                  <a:pt x="1056" y="5264"/>
                </a:lnTo>
                <a:lnTo>
                  <a:pt x="877" y="5442"/>
                </a:lnTo>
                <a:lnTo>
                  <a:pt x="424" y="4990"/>
                </a:lnTo>
                <a:lnTo>
                  <a:pt x="603" y="4811"/>
                </a:lnTo>
                <a:lnTo>
                  <a:pt x="567" y="4742"/>
                </a:lnTo>
                <a:cubicBezTo>
                  <a:pt x="536" y="4680"/>
                  <a:pt x="509" y="4617"/>
                  <a:pt x="489" y="4554"/>
                </a:cubicBezTo>
                <a:lnTo>
                  <a:pt x="465" y="4480"/>
                </a:lnTo>
                <a:lnTo>
                  <a:pt x="213" y="4480"/>
                </a:lnTo>
                <a:lnTo>
                  <a:pt x="213" y="3840"/>
                </a:lnTo>
                <a:lnTo>
                  <a:pt x="465" y="3840"/>
                </a:lnTo>
                <a:lnTo>
                  <a:pt x="489" y="3766"/>
                </a:lnTo>
                <a:cubicBezTo>
                  <a:pt x="509" y="3704"/>
                  <a:pt x="536" y="3640"/>
                  <a:pt x="568" y="3578"/>
                </a:cubicBezTo>
                <a:lnTo>
                  <a:pt x="603" y="3509"/>
                </a:lnTo>
                <a:lnTo>
                  <a:pt x="424" y="3330"/>
                </a:lnTo>
                <a:lnTo>
                  <a:pt x="877" y="2878"/>
                </a:lnTo>
                <a:lnTo>
                  <a:pt x="1056" y="3056"/>
                </a:lnTo>
                <a:lnTo>
                  <a:pt x="1125" y="3021"/>
                </a:lnTo>
                <a:cubicBezTo>
                  <a:pt x="1187" y="2989"/>
                  <a:pt x="1250" y="2963"/>
                  <a:pt x="1313" y="2943"/>
                </a:cubicBezTo>
                <a:lnTo>
                  <a:pt x="1387" y="2919"/>
                </a:lnTo>
                <a:lnTo>
                  <a:pt x="1387" y="2667"/>
                </a:lnTo>
                <a:lnTo>
                  <a:pt x="2027" y="2667"/>
                </a:lnTo>
                <a:lnTo>
                  <a:pt x="2027" y="2919"/>
                </a:lnTo>
                <a:lnTo>
                  <a:pt x="2101" y="2943"/>
                </a:lnTo>
                <a:cubicBezTo>
                  <a:pt x="2163" y="2963"/>
                  <a:pt x="2226" y="2989"/>
                  <a:pt x="2289" y="3021"/>
                </a:cubicBezTo>
                <a:lnTo>
                  <a:pt x="2358" y="3056"/>
                </a:lnTo>
                <a:lnTo>
                  <a:pt x="2536" y="2878"/>
                </a:lnTo>
                <a:lnTo>
                  <a:pt x="2859" y="3200"/>
                </a:lnTo>
                <a:lnTo>
                  <a:pt x="2773" y="3200"/>
                </a:lnTo>
                <a:lnTo>
                  <a:pt x="2773" y="3512"/>
                </a:lnTo>
                <a:cubicBezTo>
                  <a:pt x="2748" y="3522"/>
                  <a:pt x="2723" y="3532"/>
                  <a:pt x="2698" y="3544"/>
                </a:cubicBezTo>
                <a:lnTo>
                  <a:pt x="2477" y="3323"/>
                </a:lnTo>
                <a:lnTo>
                  <a:pt x="2275" y="3525"/>
                </a:lnTo>
                <a:cubicBezTo>
                  <a:pt x="2119" y="3386"/>
                  <a:pt x="1918" y="3307"/>
                  <a:pt x="1707" y="3307"/>
                </a:cubicBezTo>
                <a:cubicBezTo>
                  <a:pt x="1236" y="3307"/>
                  <a:pt x="853" y="3689"/>
                  <a:pt x="853" y="4160"/>
                </a:cubicBezTo>
                <a:cubicBezTo>
                  <a:pt x="853" y="4594"/>
                  <a:pt x="1180" y="4953"/>
                  <a:pt x="1600" y="5006"/>
                </a:cubicBezTo>
                <a:lnTo>
                  <a:pt x="1600" y="5440"/>
                </a:lnTo>
                <a:lnTo>
                  <a:pt x="1912" y="5440"/>
                </a:lnTo>
                <a:cubicBezTo>
                  <a:pt x="1922" y="5465"/>
                  <a:pt x="1933" y="5490"/>
                  <a:pt x="1944" y="5515"/>
                </a:cubicBezTo>
                <a:lnTo>
                  <a:pt x="1806" y="5653"/>
                </a:lnTo>
                <a:close/>
                <a:moveTo>
                  <a:pt x="1944" y="4298"/>
                </a:moveTo>
                <a:cubicBezTo>
                  <a:pt x="1933" y="4323"/>
                  <a:pt x="1922" y="4348"/>
                  <a:pt x="1912" y="4373"/>
                </a:cubicBezTo>
                <a:lnTo>
                  <a:pt x="1600" y="4373"/>
                </a:lnTo>
                <a:lnTo>
                  <a:pt x="1600" y="4790"/>
                </a:lnTo>
                <a:cubicBezTo>
                  <a:pt x="1298" y="4739"/>
                  <a:pt x="1067" y="4477"/>
                  <a:pt x="1067" y="4160"/>
                </a:cubicBezTo>
                <a:cubicBezTo>
                  <a:pt x="1067" y="3807"/>
                  <a:pt x="1354" y="3520"/>
                  <a:pt x="1707" y="3520"/>
                </a:cubicBezTo>
                <a:cubicBezTo>
                  <a:pt x="1861" y="3520"/>
                  <a:pt x="2008" y="3576"/>
                  <a:pt x="2124" y="3676"/>
                </a:cubicBezTo>
                <a:lnTo>
                  <a:pt x="1723" y="4077"/>
                </a:lnTo>
                <a:lnTo>
                  <a:pt x="1944" y="4298"/>
                </a:lnTo>
                <a:close/>
                <a:moveTo>
                  <a:pt x="4136" y="6189"/>
                </a:moveTo>
                <a:lnTo>
                  <a:pt x="3958" y="6010"/>
                </a:lnTo>
                <a:lnTo>
                  <a:pt x="3889" y="6046"/>
                </a:lnTo>
                <a:cubicBezTo>
                  <a:pt x="3826" y="6078"/>
                  <a:pt x="3763" y="6104"/>
                  <a:pt x="3700" y="6124"/>
                </a:cubicBezTo>
                <a:lnTo>
                  <a:pt x="3627" y="6148"/>
                </a:lnTo>
                <a:lnTo>
                  <a:pt x="3627" y="6400"/>
                </a:lnTo>
                <a:lnTo>
                  <a:pt x="2987" y="6400"/>
                </a:lnTo>
                <a:lnTo>
                  <a:pt x="2987" y="6148"/>
                </a:lnTo>
                <a:lnTo>
                  <a:pt x="2913" y="6124"/>
                </a:lnTo>
                <a:cubicBezTo>
                  <a:pt x="2850" y="6104"/>
                  <a:pt x="2787" y="6078"/>
                  <a:pt x="2725" y="6046"/>
                </a:cubicBezTo>
                <a:lnTo>
                  <a:pt x="2656" y="6010"/>
                </a:lnTo>
                <a:lnTo>
                  <a:pt x="2477" y="6189"/>
                </a:lnTo>
                <a:lnTo>
                  <a:pt x="2024" y="5736"/>
                </a:lnTo>
                <a:lnTo>
                  <a:pt x="2203" y="5558"/>
                </a:lnTo>
                <a:lnTo>
                  <a:pt x="2167" y="5489"/>
                </a:lnTo>
                <a:cubicBezTo>
                  <a:pt x="2136" y="5426"/>
                  <a:pt x="2109" y="5363"/>
                  <a:pt x="2089" y="5301"/>
                </a:cubicBezTo>
                <a:lnTo>
                  <a:pt x="2065" y="5227"/>
                </a:lnTo>
                <a:lnTo>
                  <a:pt x="1813" y="5227"/>
                </a:lnTo>
                <a:lnTo>
                  <a:pt x="1813" y="4587"/>
                </a:lnTo>
                <a:lnTo>
                  <a:pt x="2065" y="4587"/>
                </a:lnTo>
                <a:lnTo>
                  <a:pt x="2089" y="4513"/>
                </a:lnTo>
                <a:cubicBezTo>
                  <a:pt x="2109" y="4450"/>
                  <a:pt x="2136" y="4387"/>
                  <a:pt x="2168" y="4325"/>
                </a:cubicBezTo>
                <a:lnTo>
                  <a:pt x="2203" y="4256"/>
                </a:lnTo>
                <a:lnTo>
                  <a:pt x="2024" y="4077"/>
                </a:lnTo>
                <a:lnTo>
                  <a:pt x="2477" y="3624"/>
                </a:lnTo>
                <a:lnTo>
                  <a:pt x="2656" y="3803"/>
                </a:lnTo>
                <a:lnTo>
                  <a:pt x="2725" y="3768"/>
                </a:lnTo>
                <a:cubicBezTo>
                  <a:pt x="2787" y="3736"/>
                  <a:pt x="2850" y="3709"/>
                  <a:pt x="2913" y="3689"/>
                </a:cubicBezTo>
                <a:lnTo>
                  <a:pt x="2987" y="3665"/>
                </a:lnTo>
                <a:lnTo>
                  <a:pt x="2987" y="3413"/>
                </a:lnTo>
                <a:lnTo>
                  <a:pt x="3200" y="3413"/>
                </a:lnTo>
                <a:lnTo>
                  <a:pt x="3200" y="4061"/>
                </a:lnTo>
                <a:cubicBezTo>
                  <a:pt x="2780" y="4113"/>
                  <a:pt x="2453" y="4472"/>
                  <a:pt x="2453" y="4907"/>
                </a:cubicBezTo>
                <a:cubicBezTo>
                  <a:pt x="2453" y="5377"/>
                  <a:pt x="2836" y="5760"/>
                  <a:pt x="3307" y="5760"/>
                </a:cubicBezTo>
                <a:cubicBezTo>
                  <a:pt x="3777" y="5760"/>
                  <a:pt x="4160" y="5377"/>
                  <a:pt x="4160" y="4907"/>
                </a:cubicBezTo>
                <a:cubicBezTo>
                  <a:pt x="4160" y="4472"/>
                  <a:pt x="3834" y="4113"/>
                  <a:pt x="3413" y="4061"/>
                </a:cubicBezTo>
                <a:lnTo>
                  <a:pt x="3413" y="3413"/>
                </a:lnTo>
                <a:lnTo>
                  <a:pt x="3627" y="3413"/>
                </a:lnTo>
                <a:lnTo>
                  <a:pt x="3627" y="3665"/>
                </a:lnTo>
                <a:lnTo>
                  <a:pt x="3701" y="3689"/>
                </a:lnTo>
                <a:cubicBezTo>
                  <a:pt x="3763" y="3709"/>
                  <a:pt x="3826" y="3736"/>
                  <a:pt x="3889" y="3768"/>
                </a:cubicBezTo>
                <a:lnTo>
                  <a:pt x="3958" y="3803"/>
                </a:lnTo>
                <a:lnTo>
                  <a:pt x="4136" y="3624"/>
                </a:lnTo>
                <a:lnTo>
                  <a:pt x="4589" y="4077"/>
                </a:lnTo>
                <a:lnTo>
                  <a:pt x="4410" y="4256"/>
                </a:lnTo>
                <a:lnTo>
                  <a:pt x="4446" y="4325"/>
                </a:lnTo>
                <a:cubicBezTo>
                  <a:pt x="4478" y="4387"/>
                  <a:pt x="4504" y="4450"/>
                  <a:pt x="4524" y="4513"/>
                </a:cubicBezTo>
                <a:lnTo>
                  <a:pt x="4548" y="4587"/>
                </a:lnTo>
                <a:lnTo>
                  <a:pt x="4800" y="4587"/>
                </a:lnTo>
                <a:lnTo>
                  <a:pt x="4800" y="5227"/>
                </a:lnTo>
                <a:lnTo>
                  <a:pt x="4548" y="5227"/>
                </a:lnTo>
                <a:lnTo>
                  <a:pt x="4524" y="5300"/>
                </a:lnTo>
                <a:cubicBezTo>
                  <a:pt x="4504" y="5363"/>
                  <a:pt x="4478" y="5426"/>
                  <a:pt x="4446" y="5489"/>
                </a:cubicBezTo>
                <a:lnTo>
                  <a:pt x="4410" y="5558"/>
                </a:lnTo>
                <a:lnTo>
                  <a:pt x="4589" y="5736"/>
                </a:lnTo>
                <a:lnTo>
                  <a:pt x="4136" y="6189"/>
                </a:lnTo>
                <a:close/>
                <a:moveTo>
                  <a:pt x="4701" y="4373"/>
                </a:moveTo>
                <a:cubicBezTo>
                  <a:pt x="4691" y="4348"/>
                  <a:pt x="4681" y="4323"/>
                  <a:pt x="4670" y="4298"/>
                </a:cubicBezTo>
                <a:lnTo>
                  <a:pt x="4891" y="4077"/>
                </a:lnTo>
                <a:lnTo>
                  <a:pt x="4490" y="3676"/>
                </a:lnTo>
                <a:cubicBezTo>
                  <a:pt x="4605" y="3576"/>
                  <a:pt x="4752" y="3520"/>
                  <a:pt x="4907" y="3520"/>
                </a:cubicBezTo>
                <a:cubicBezTo>
                  <a:pt x="5260" y="3520"/>
                  <a:pt x="5547" y="3807"/>
                  <a:pt x="5547" y="4160"/>
                </a:cubicBezTo>
                <a:cubicBezTo>
                  <a:pt x="5547" y="4476"/>
                  <a:pt x="5316" y="4739"/>
                  <a:pt x="5013" y="4790"/>
                </a:cubicBezTo>
                <a:lnTo>
                  <a:pt x="5013" y="4373"/>
                </a:lnTo>
                <a:lnTo>
                  <a:pt x="4701" y="4373"/>
                </a:lnTo>
                <a:close/>
                <a:moveTo>
                  <a:pt x="6400" y="4480"/>
                </a:moveTo>
                <a:lnTo>
                  <a:pt x="6148" y="4480"/>
                </a:lnTo>
                <a:lnTo>
                  <a:pt x="6124" y="4554"/>
                </a:lnTo>
                <a:cubicBezTo>
                  <a:pt x="6104" y="4616"/>
                  <a:pt x="6078" y="4680"/>
                  <a:pt x="6046" y="4742"/>
                </a:cubicBezTo>
                <a:lnTo>
                  <a:pt x="6010" y="4811"/>
                </a:lnTo>
                <a:lnTo>
                  <a:pt x="6189" y="4990"/>
                </a:lnTo>
                <a:lnTo>
                  <a:pt x="5736" y="5442"/>
                </a:lnTo>
                <a:lnTo>
                  <a:pt x="5558" y="5264"/>
                </a:lnTo>
                <a:lnTo>
                  <a:pt x="5489" y="5299"/>
                </a:lnTo>
                <a:cubicBezTo>
                  <a:pt x="5426" y="5331"/>
                  <a:pt x="5363" y="5357"/>
                  <a:pt x="5300" y="5377"/>
                </a:cubicBezTo>
                <a:lnTo>
                  <a:pt x="5227" y="5401"/>
                </a:lnTo>
                <a:lnTo>
                  <a:pt x="5227" y="5653"/>
                </a:lnTo>
                <a:lnTo>
                  <a:pt x="4808" y="5653"/>
                </a:lnTo>
                <a:lnTo>
                  <a:pt x="4670" y="5515"/>
                </a:lnTo>
                <a:cubicBezTo>
                  <a:pt x="4681" y="5490"/>
                  <a:pt x="4691" y="5465"/>
                  <a:pt x="4701" y="5440"/>
                </a:cubicBezTo>
                <a:lnTo>
                  <a:pt x="5013" y="5440"/>
                </a:lnTo>
                <a:lnTo>
                  <a:pt x="5013" y="5006"/>
                </a:lnTo>
                <a:cubicBezTo>
                  <a:pt x="5434" y="4953"/>
                  <a:pt x="5760" y="4594"/>
                  <a:pt x="5760" y="4160"/>
                </a:cubicBezTo>
                <a:cubicBezTo>
                  <a:pt x="5760" y="3689"/>
                  <a:pt x="5377" y="3307"/>
                  <a:pt x="4907" y="3307"/>
                </a:cubicBezTo>
                <a:cubicBezTo>
                  <a:pt x="4695" y="3307"/>
                  <a:pt x="4494" y="3386"/>
                  <a:pt x="4339" y="3525"/>
                </a:cubicBezTo>
                <a:lnTo>
                  <a:pt x="4136" y="3323"/>
                </a:lnTo>
                <a:lnTo>
                  <a:pt x="3915" y="3544"/>
                </a:lnTo>
                <a:cubicBezTo>
                  <a:pt x="3890" y="3532"/>
                  <a:pt x="3865" y="3522"/>
                  <a:pt x="3840" y="3512"/>
                </a:cubicBezTo>
                <a:lnTo>
                  <a:pt x="3840" y="3200"/>
                </a:lnTo>
                <a:lnTo>
                  <a:pt x="3755" y="3200"/>
                </a:lnTo>
                <a:lnTo>
                  <a:pt x="4077" y="2878"/>
                </a:lnTo>
                <a:lnTo>
                  <a:pt x="4256" y="3056"/>
                </a:lnTo>
                <a:lnTo>
                  <a:pt x="4325" y="3021"/>
                </a:lnTo>
                <a:cubicBezTo>
                  <a:pt x="4387" y="2989"/>
                  <a:pt x="4451" y="2963"/>
                  <a:pt x="4513" y="2943"/>
                </a:cubicBezTo>
                <a:lnTo>
                  <a:pt x="4587" y="2919"/>
                </a:lnTo>
                <a:lnTo>
                  <a:pt x="4587" y="2667"/>
                </a:lnTo>
                <a:lnTo>
                  <a:pt x="5227" y="2667"/>
                </a:lnTo>
                <a:lnTo>
                  <a:pt x="5227" y="2919"/>
                </a:lnTo>
                <a:lnTo>
                  <a:pt x="5301" y="2943"/>
                </a:lnTo>
                <a:cubicBezTo>
                  <a:pt x="5363" y="2963"/>
                  <a:pt x="5426" y="2989"/>
                  <a:pt x="5489" y="3021"/>
                </a:cubicBezTo>
                <a:lnTo>
                  <a:pt x="5558" y="3056"/>
                </a:lnTo>
                <a:lnTo>
                  <a:pt x="5736" y="2878"/>
                </a:lnTo>
                <a:lnTo>
                  <a:pt x="6189" y="3330"/>
                </a:lnTo>
                <a:lnTo>
                  <a:pt x="6010" y="3509"/>
                </a:lnTo>
                <a:lnTo>
                  <a:pt x="6046" y="3578"/>
                </a:lnTo>
                <a:cubicBezTo>
                  <a:pt x="6078" y="3640"/>
                  <a:pt x="6104" y="3703"/>
                  <a:pt x="6124" y="3766"/>
                </a:cubicBezTo>
                <a:lnTo>
                  <a:pt x="6148" y="3840"/>
                </a:lnTo>
                <a:lnTo>
                  <a:pt x="6400" y="3840"/>
                </a:lnTo>
                <a:lnTo>
                  <a:pt x="6400" y="44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3" name="文本框 21"/>
          <p:cNvSpPr txBox="1"/>
          <p:nvPr/>
        </p:nvSpPr>
        <p:spPr>
          <a:xfrm flipH="1">
            <a:off x="37360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学科痛点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4" name="文本框 25"/>
          <p:cNvSpPr txBox="1"/>
          <p:nvPr/>
        </p:nvSpPr>
        <p:spPr>
          <a:xfrm flipH="1">
            <a:off x="903392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学生发展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5" name="文本框 22"/>
          <p:cNvSpPr txBox="1"/>
          <p:nvPr/>
        </p:nvSpPr>
        <p:spPr>
          <a:xfrm flipH="1">
            <a:off x="1052313" y="4686402"/>
            <a:ext cx="2076316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双减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政策强调提升课堂效率，数学项目式学习需教研同步介入，才能解决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脱节导致的教学浅层化问题。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 flipH="1">
            <a:off x="9033510" y="1633855"/>
            <a:ext cx="218757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数学核心素养中的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应用意识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创新意识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，需依托教研融合优化项目设计，才能有效落地课堂。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360913" y="4722597"/>
            <a:ext cx="2076316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多数教师缺乏项目式学习设计经验，需通过教研融合提供具体策略，避免教学流于形式。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圆角矩形 45"/>
          <p:cNvSpPr/>
          <p:nvPr/>
        </p:nvSpPr>
        <p:spPr>
          <a:xfrm>
            <a:off x="1245870" y="5073650"/>
            <a:ext cx="9385300" cy="1143000"/>
          </a:xfrm>
          <a:prstGeom prst="roundRect">
            <a:avLst/>
          </a:prstGeom>
          <a:gradFill>
            <a:gsLst>
              <a:gs pos="0">
                <a:srgbClr val="FFE089"/>
              </a:gs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936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校园物联学生数据隐私保护轻量化方案研究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稻壳儿佳誉设计_4"/>
          <p:cNvSpPr txBox="1">
            <a:spLocks noChangeArrowheads="1"/>
          </p:cNvSpPr>
          <p:nvPr/>
        </p:nvSpPr>
        <p:spPr bwMode="auto">
          <a:xfrm>
            <a:off x="1427480" y="5196205"/>
            <a:ext cx="885444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fontAlgn="auto">
              <a:lnSpc>
                <a:spcPct val="100000"/>
              </a:lnSpc>
              <a:spcBef>
                <a:spcPct val="20000"/>
              </a:spcBef>
              <a:buClrTx/>
              <a:buSzTx/>
              <a:defRPr sz="1800">
                <a:solidFill>
                  <a:srgbClr val="000000"/>
                </a:solidFill>
                <a:uFillTx/>
              </a:defRPr>
            </a:pPr>
            <a:r>
              <a:rPr lang="zh-CN" altLang="en-US" sz="1400" dirty="0">
                <a:solidFill>
                  <a:schemeClr val="tx1">
                    <a:alpha val="50000"/>
                  </a:schemeClr>
                </a:solidFill>
                <a:cs typeface="+mn-ea"/>
                <a:sym typeface="+mn-lt"/>
              </a:rPr>
              <a:t>校园物联网普及催生海量学生行为数据，且多关联个人隐私，现有集中存储模式存在泄露风险。传统隐私方案计算复杂，难适配校园低算力终端，还易引发隐私与校园服务效率的矛盾，同时当前缺乏校园物联数据专项隐私规范。因此，开展相关轻量化方案研究，可突破技术适配瓶颈，平衡数据安全与服务效率，为校园数据治理及同类低算力场景隐私保护提供参考，具备现实实践价值。</a:t>
            </a:r>
            <a:endParaRPr lang="zh-CN" altLang="en-US" sz="1400" dirty="0">
              <a:solidFill>
                <a:schemeClr val="tx1">
                  <a:alpha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稻壳儿佳誉设计_5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2797175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5" name="稻壳儿佳誉设计_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095750" y="2490788"/>
            <a:ext cx="1576388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6" name="稻壳儿佳誉设计_7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7854950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grpSp>
        <p:nvGrpSpPr>
          <p:cNvPr id="7" name="稻壳儿佳誉设计_8"/>
          <p:cNvGrpSpPr/>
          <p:nvPr>
            <p:custDataLst>
              <p:tags r:id="rId4"/>
            </p:custDataLst>
          </p:nvPr>
        </p:nvGrpSpPr>
        <p:grpSpPr bwMode="auto">
          <a:xfrm>
            <a:off x="4278313" y="2339976"/>
            <a:ext cx="3625851" cy="2335212"/>
            <a:chOff x="4368418" y="2523550"/>
            <a:chExt cx="3626942" cy="2335417"/>
          </a:xfrm>
          <a:solidFill>
            <a:srgbClr val="06398B"/>
          </a:solidFill>
        </p:grpSpPr>
        <p:sp>
          <p:nvSpPr>
            <p:cNvPr id="8" name="Freeform 69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4569410" y="3489585"/>
              <a:ext cx="1060543" cy="404934"/>
            </a:xfrm>
            <a:custGeom>
              <a:avLst/>
              <a:gdLst>
                <a:gd name="T0" fmla="*/ 2147483647 w 933"/>
                <a:gd name="T1" fmla="*/ 2147483647 h 356"/>
                <a:gd name="T2" fmla="*/ 0 w 933"/>
                <a:gd name="T3" fmla="*/ 2147483647 h 356"/>
                <a:gd name="T4" fmla="*/ 2147483647 w 933"/>
                <a:gd name="T5" fmla="*/ 0 h 356"/>
                <a:gd name="T6" fmla="*/ 2147483647 w 933"/>
                <a:gd name="T7" fmla="*/ 2147483647 h 356"/>
                <a:gd name="T8" fmla="*/ 2147483647 w 933"/>
                <a:gd name="T9" fmla="*/ 2147483647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6"/>
                <a:gd name="T17" fmla="*/ 933 w 933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6">
                  <a:moveTo>
                    <a:pt x="465" y="356"/>
                  </a:moveTo>
                  <a:lnTo>
                    <a:pt x="0" y="178"/>
                  </a:lnTo>
                  <a:lnTo>
                    <a:pt x="465" y="0"/>
                  </a:lnTo>
                  <a:lnTo>
                    <a:pt x="933" y="178"/>
                  </a:lnTo>
                  <a:lnTo>
                    <a:pt x="465" y="35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70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470105" y="3060093"/>
              <a:ext cx="528684" cy="732058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0 h 644"/>
                <a:gd name="T4" fmla="*/ 0 w 465"/>
                <a:gd name="T5" fmla="*/ 2147483647 h 644"/>
                <a:gd name="T6" fmla="*/ 2147483647 w 465"/>
                <a:gd name="T7" fmla="*/ 2147483647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71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4468378" y="3590164"/>
              <a:ext cx="531603" cy="731522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0 h 644"/>
                <a:gd name="T4" fmla="*/ 2147483647 w 468"/>
                <a:gd name="T5" fmla="*/ 2147483647 h 644"/>
                <a:gd name="T6" fmla="*/ 0 w 468"/>
                <a:gd name="T7" fmla="*/ 2147483647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178"/>
                  </a:moveTo>
                  <a:lnTo>
                    <a:pt x="468" y="0"/>
                  </a:lnTo>
                  <a:lnTo>
                    <a:pt x="468" y="364"/>
                  </a:lnTo>
                  <a:lnTo>
                    <a:pt x="0" y="644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72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4931537" y="3564220"/>
              <a:ext cx="1697186" cy="254076"/>
            </a:xfrm>
            <a:custGeom>
              <a:avLst/>
              <a:gdLst>
                <a:gd name="T0" fmla="*/ 2147483647 w 1494"/>
                <a:gd name="T1" fmla="*/ 2147483647 h 224"/>
                <a:gd name="T2" fmla="*/ 0 w 1494"/>
                <a:gd name="T3" fmla="*/ 2147483647 h 224"/>
                <a:gd name="T4" fmla="*/ 2147483647 w 1494"/>
                <a:gd name="T5" fmla="*/ 0 h 224"/>
                <a:gd name="T6" fmla="*/ 2147483647 w 1494"/>
                <a:gd name="T7" fmla="*/ 2147483647 h 224"/>
                <a:gd name="T8" fmla="*/ 2147483647 w 1494"/>
                <a:gd name="T9" fmla="*/ 2147483647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224"/>
                  </a:moveTo>
                  <a:lnTo>
                    <a:pt x="0" y="112"/>
                  </a:lnTo>
                  <a:lnTo>
                    <a:pt x="746" y="0"/>
                  </a:lnTo>
                  <a:lnTo>
                    <a:pt x="1494" y="112"/>
                  </a:lnTo>
                  <a:lnTo>
                    <a:pt x="746" y="224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73"/>
            <p:cNvSpPr/>
            <p:nvPr>
              <p:custDataLst>
                <p:tags r:id="rId9"/>
              </p:custDataLst>
            </p:nvPr>
          </p:nvSpPr>
          <p:spPr bwMode="auto">
            <a:xfrm rot="5400000">
              <a:off x="5005288" y="2915622"/>
              <a:ext cx="847799" cy="701886"/>
            </a:xfrm>
            <a:custGeom>
              <a:avLst/>
              <a:gdLst>
                <a:gd name="T0" fmla="*/ 2147483647 w 746"/>
                <a:gd name="T1" fmla="*/ 2147483647 h 618"/>
                <a:gd name="T2" fmla="*/ 0 w 746"/>
                <a:gd name="T3" fmla="*/ 0 h 618"/>
                <a:gd name="T4" fmla="*/ 0 w 746"/>
                <a:gd name="T5" fmla="*/ 2147483647 h 618"/>
                <a:gd name="T6" fmla="*/ 2147483647 w 746"/>
                <a:gd name="T7" fmla="*/ 2147483647 h 618"/>
                <a:gd name="T8" fmla="*/ 2147483647 w 746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8"/>
                <a:gd name="T17" fmla="*/ 746 w 746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4"/>
            <p:cNvSpPr/>
            <p:nvPr>
              <p:custDataLst>
                <p:tags r:id="rId10"/>
              </p:custDataLst>
            </p:nvPr>
          </p:nvSpPr>
          <p:spPr bwMode="auto">
            <a:xfrm rot="5400000">
              <a:off x="5004524" y="3763957"/>
              <a:ext cx="849656" cy="701988"/>
            </a:xfrm>
            <a:custGeom>
              <a:avLst/>
              <a:gdLst>
                <a:gd name="T0" fmla="*/ 0 w 748"/>
                <a:gd name="T1" fmla="*/ 2147483647 h 618"/>
                <a:gd name="T2" fmla="*/ 2147483647 w 748"/>
                <a:gd name="T3" fmla="*/ 0 h 618"/>
                <a:gd name="T4" fmla="*/ 2147483647 w 748"/>
                <a:gd name="T5" fmla="*/ 2147483647 h 618"/>
                <a:gd name="T6" fmla="*/ 0 w 748"/>
                <a:gd name="T7" fmla="*/ 2147483647 h 618"/>
                <a:gd name="T8" fmla="*/ 0 w 748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8"/>
                <a:gd name="T17" fmla="*/ 748 w 74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8">
                  <a:moveTo>
                    <a:pt x="0" y="112"/>
                  </a:moveTo>
                  <a:lnTo>
                    <a:pt x="748" y="0"/>
                  </a:lnTo>
                  <a:lnTo>
                    <a:pt x="748" y="394"/>
                  </a:lnTo>
                  <a:lnTo>
                    <a:pt x="0" y="61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75"/>
            <p:cNvSpPr/>
            <p:nvPr>
              <p:custDataLst>
                <p:tags r:id="rId11"/>
              </p:custDataLst>
            </p:nvPr>
          </p:nvSpPr>
          <p:spPr bwMode="auto">
            <a:xfrm rot="5400000">
              <a:off x="6731760" y="3489743"/>
              <a:ext cx="1060543" cy="403346"/>
            </a:xfrm>
            <a:custGeom>
              <a:avLst/>
              <a:gdLst>
                <a:gd name="T0" fmla="*/ 2147483647 w 933"/>
                <a:gd name="T1" fmla="*/ 0 h 355"/>
                <a:gd name="T2" fmla="*/ 0 w 933"/>
                <a:gd name="T3" fmla="*/ 2147483647 h 355"/>
                <a:gd name="T4" fmla="*/ 2147483647 w 933"/>
                <a:gd name="T5" fmla="*/ 2147483647 h 355"/>
                <a:gd name="T6" fmla="*/ 2147483647 w 933"/>
                <a:gd name="T7" fmla="*/ 2147483647 h 355"/>
                <a:gd name="T8" fmla="*/ 2147483647 w 933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5"/>
                <a:gd name="T17" fmla="*/ 933 w 933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5">
                  <a:moveTo>
                    <a:pt x="465" y="0"/>
                  </a:moveTo>
                  <a:lnTo>
                    <a:pt x="0" y="177"/>
                  </a:lnTo>
                  <a:lnTo>
                    <a:pt x="465" y="355"/>
                  </a:lnTo>
                  <a:lnTo>
                    <a:pt x="933" y="177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dirty="0">
                <a:cs typeface="+mn-ea"/>
                <a:sym typeface="+mn-lt"/>
              </a:endParaRPr>
            </a:p>
          </p:txBody>
        </p:sp>
        <p:sp>
          <p:nvSpPr>
            <p:cNvPr id="15" name="Freeform 76"/>
            <p:cNvSpPr/>
            <p:nvPr>
              <p:custDataLst>
                <p:tags r:id="rId12"/>
              </p:custDataLst>
            </p:nvPr>
          </p:nvSpPr>
          <p:spPr bwMode="auto">
            <a:xfrm rot="5400000">
              <a:off x="7364989" y="3060093"/>
              <a:ext cx="528684" cy="732057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2147483647 h 644"/>
                <a:gd name="T4" fmla="*/ 0 w 465"/>
                <a:gd name="T5" fmla="*/ 2147483647 h 644"/>
                <a:gd name="T6" fmla="*/ 2147483647 w 465"/>
                <a:gd name="T7" fmla="*/ 0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77"/>
            <p:cNvSpPr/>
            <p:nvPr>
              <p:custDataLst>
                <p:tags r:id="rId13"/>
              </p:custDataLst>
            </p:nvPr>
          </p:nvSpPr>
          <p:spPr bwMode="auto">
            <a:xfrm rot="5400000">
              <a:off x="7363402" y="3590365"/>
              <a:ext cx="531859" cy="732057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2147483647 h 644"/>
                <a:gd name="T4" fmla="*/ 2147483647 w 468"/>
                <a:gd name="T5" fmla="*/ 2147483647 h 644"/>
                <a:gd name="T6" fmla="*/ 0 w 468"/>
                <a:gd name="T7" fmla="*/ 0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467"/>
                  </a:moveTo>
                  <a:lnTo>
                    <a:pt x="468" y="644"/>
                  </a:lnTo>
                  <a:lnTo>
                    <a:pt x="468" y="280"/>
                  </a:lnTo>
                  <a:lnTo>
                    <a:pt x="0" y="0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8"/>
            <p:cNvSpPr/>
            <p:nvPr>
              <p:custDataLst>
                <p:tags r:id="rId14"/>
              </p:custDataLst>
            </p:nvPr>
          </p:nvSpPr>
          <p:spPr bwMode="auto">
            <a:xfrm rot="5400000">
              <a:off x="5733465" y="3564220"/>
              <a:ext cx="1697186" cy="254076"/>
            </a:xfrm>
            <a:custGeom>
              <a:avLst/>
              <a:gdLst>
                <a:gd name="T0" fmla="*/ 2147483647 w 1494"/>
                <a:gd name="T1" fmla="*/ 0 h 224"/>
                <a:gd name="T2" fmla="*/ 0 w 1494"/>
                <a:gd name="T3" fmla="*/ 2147483647 h 224"/>
                <a:gd name="T4" fmla="*/ 2147483647 w 1494"/>
                <a:gd name="T5" fmla="*/ 2147483647 h 224"/>
                <a:gd name="T6" fmla="*/ 2147483647 w 1494"/>
                <a:gd name="T7" fmla="*/ 2147483647 h 224"/>
                <a:gd name="T8" fmla="*/ 2147483647 w 1494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0"/>
                  </a:moveTo>
                  <a:lnTo>
                    <a:pt x="0" y="111"/>
                  </a:lnTo>
                  <a:lnTo>
                    <a:pt x="746" y="224"/>
                  </a:lnTo>
                  <a:lnTo>
                    <a:pt x="1494" y="111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79"/>
            <p:cNvSpPr/>
            <p:nvPr>
              <p:custDataLst>
                <p:tags r:id="rId15"/>
              </p:custDataLst>
            </p:nvPr>
          </p:nvSpPr>
          <p:spPr bwMode="auto">
            <a:xfrm rot="5400000">
              <a:off x="6509896" y="2916416"/>
              <a:ext cx="847799" cy="700298"/>
            </a:xfrm>
            <a:custGeom>
              <a:avLst/>
              <a:gdLst>
                <a:gd name="T0" fmla="*/ 2147483647 w 746"/>
                <a:gd name="T1" fmla="*/ 2147483647 h 617"/>
                <a:gd name="T2" fmla="*/ 0 w 746"/>
                <a:gd name="T3" fmla="*/ 2147483647 h 617"/>
                <a:gd name="T4" fmla="*/ 0 w 746"/>
                <a:gd name="T5" fmla="*/ 2147483647 h 617"/>
                <a:gd name="T6" fmla="*/ 2147483647 w 746"/>
                <a:gd name="T7" fmla="*/ 0 h 617"/>
                <a:gd name="T8" fmla="*/ 2147483647 w 746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7"/>
                <a:gd name="T17" fmla="*/ 746 w 746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80"/>
            <p:cNvSpPr/>
            <p:nvPr>
              <p:custDataLst>
                <p:tags r:id="rId16"/>
              </p:custDataLst>
            </p:nvPr>
          </p:nvSpPr>
          <p:spPr bwMode="auto">
            <a:xfrm rot="5400000">
              <a:off x="6509103" y="3765008"/>
              <a:ext cx="849387" cy="700298"/>
            </a:xfrm>
            <a:custGeom>
              <a:avLst/>
              <a:gdLst>
                <a:gd name="T0" fmla="*/ 0 w 748"/>
                <a:gd name="T1" fmla="*/ 2147483647 h 617"/>
                <a:gd name="T2" fmla="*/ 2147483647 w 748"/>
                <a:gd name="T3" fmla="*/ 2147483647 h 617"/>
                <a:gd name="T4" fmla="*/ 2147483647 w 748"/>
                <a:gd name="T5" fmla="*/ 2147483647 h 617"/>
                <a:gd name="T6" fmla="*/ 0 w 748"/>
                <a:gd name="T7" fmla="*/ 0 h 617"/>
                <a:gd name="T8" fmla="*/ 0 w 748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7"/>
                <a:gd name="T17" fmla="*/ 748 w 748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7">
                  <a:moveTo>
                    <a:pt x="0" y="506"/>
                  </a:moveTo>
                  <a:lnTo>
                    <a:pt x="748" y="617"/>
                  </a:lnTo>
                  <a:lnTo>
                    <a:pt x="748" y="224"/>
                  </a:lnTo>
                  <a:lnTo>
                    <a:pt x="0" y="0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81"/>
            <p:cNvSpPr/>
            <p:nvPr>
              <p:custDataLst>
                <p:tags r:id="rId17"/>
              </p:custDataLst>
            </p:nvPr>
          </p:nvSpPr>
          <p:spPr bwMode="auto">
            <a:xfrm rot="5400000">
              <a:off x="5593667" y="2743360"/>
              <a:ext cx="1166915" cy="727294"/>
            </a:xfrm>
            <a:custGeom>
              <a:avLst/>
              <a:gdLst>
                <a:gd name="T0" fmla="*/ 2147483647 w 1027"/>
                <a:gd name="T1" fmla="*/ 2147483647 h 641"/>
                <a:gd name="T2" fmla="*/ 0 w 1027"/>
                <a:gd name="T3" fmla="*/ 2147483647 h 641"/>
                <a:gd name="T4" fmla="*/ 0 w 1027"/>
                <a:gd name="T5" fmla="*/ 2147483647 h 641"/>
                <a:gd name="T6" fmla="*/ 2147483647 w 1027"/>
                <a:gd name="T7" fmla="*/ 0 h 641"/>
                <a:gd name="T8" fmla="*/ 2147483647 w 1027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641"/>
                <a:gd name="T17" fmla="*/ 1027 w 1027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2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92874" y="3911068"/>
              <a:ext cx="1168503" cy="727294"/>
            </a:xfrm>
            <a:custGeom>
              <a:avLst/>
              <a:gdLst>
                <a:gd name="T0" fmla="*/ 0 w 1029"/>
                <a:gd name="T1" fmla="*/ 2147483647 h 641"/>
                <a:gd name="T2" fmla="*/ 2147483647 w 1029"/>
                <a:gd name="T3" fmla="*/ 2147483647 h 641"/>
                <a:gd name="T4" fmla="*/ 2147483647 w 1029"/>
                <a:gd name="T5" fmla="*/ 2147483647 h 641"/>
                <a:gd name="T6" fmla="*/ 0 w 1029"/>
                <a:gd name="T7" fmla="*/ 0 h 641"/>
                <a:gd name="T8" fmla="*/ 0 w 1029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9"/>
                <a:gd name="T16" fmla="*/ 0 h 641"/>
                <a:gd name="T17" fmla="*/ 1029 w 1029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9" h="641">
                  <a:moveTo>
                    <a:pt x="0" y="641"/>
                  </a:moveTo>
                  <a:lnTo>
                    <a:pt x="1029" y="532"/>
                  </a:lnTo>
                  <a:lnTo>
                    <a:pt x="1029" y="111"/>
                  </a:lnTo>
                  <a:lnTo>
                    <a:pt x="0" y="0"/>
                  </a:lnTo>
                  <a:lnTo>
                    <a:pt x="0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83"/>
            <p:cNvSpPr/>
            <p:nvPr>
              <p:custDataLst>
                <p:tags r:id="rId19"/>
              </p:custDataLst>
            </p:nvPr>
          </p:nvSpPr>
          <p:spPr bwMode="auto">
            <a:xfrm rot="5400000">
              <a:off x="7725013" y="3425457"/>
              <a:ext cx="9087" cy="531603"/>
            </a:xfrm>
            <a:custGeom>
              <a:avLst/>
              <a:gdLst>
                <a:gd name="T0" fmla="*/ 2147483647 w 8"/>
                <a:gd name="T1" fmla="*/ 2147483647 h 468"/>
                <a:gd name="T2" fmla="*/ 0 w 8"/>
                <a:gd name="T3" fmla="*/ 2147483647 h 468"/>
                <a:gd name="T4" fmla="*/ 0 w 8"/>
                <a:gd name="T5" fmla="*/ 2147483647 h 468"/>
                <a:gd name="T6" fmla="*/ 2147483647 w 8"/>
                <a:gd name="T7" fmla="*/ 0 h 468"/>
                <a:gd name="T8" fmla="*/ 2147483647 w 8"/>
                <a:gd name="T9" fmla="*/ 2147483647 h 468"/>
                <a:gd name="T10" fmla="*/ 2147483647 w 8"/>
                <a:gd name="T11" fmla="*/ 2147483647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468"/>
                  </a:moveTo>
                  <a:lnTo>
                    <a:pt x="0" y="468"/>
                  </a:lnTo>
                  <a:lnTo>
                    <a:pt x="0" y="2"/>
                  </a:lnTo>
                  <a:lnTo>
                    <a:pt x="3" y="0"/>
                  </a:lnTo>
                  <a:lnTo>
                    <a:pt x="8" y="2"/>
                  </a:lnTo>
                  <a:lnTo>
                    <a:pt x="8" y="468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6992355" y="3403875"/>
              <a:ext cx="9087" cy="574767"/>
            </a:xfrm>
            <a:custGeom>
              <a:avLst/>
              <a:gdLst>
                <a:gd name="T0" fmla="*/ 2147483647 w 8"/>
                <a:gd name="T1" fmla="*/ 2147483647 h 506"/>
                <a:gd name="T2" fmla="*/ 0 w 8"/>
                <a:gd name="T3" fmla="*/ 2147483647 h 506"/>
                <a:gd name="T4" fmla="*/ 0 w 8"/>
                <a:gd name="T5" fmla="*/ 2147483647 h 506"/>
                <a:gd name="T6" fmla="*/ 2147483647 w 8"/>
                <a:gd name="T7" fmla="*/ 0 h 506"/>
                <a:gd name="T8" fmla="*/ 2147483647 w 8"/>
                <a:gd name="T9" fmla="*/ 2147483647 h 506"/>
                <a:gd name="T10" fmla="*/ 2147483647 w 8"/>
                <a:gd name="T11" fmla="*/ 2147483647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506"/>
                  </a:moveTo>
                  <a:lnTo>
                    <a:pt x="0" y="506"/>
                  </a:lnTo>
                  <a:lnTo>
                    <a:pt x="0" y="1"/>
                  </a:lnTo>
                  <a:lnTo>
                    <a:pt x="3" y="0"/>
                  </a:lnTo>
                  <a:lnTo>
                    <a:pt x="8" y="1"/>
                  </a:lnTo>
                  <a:lnTo>
                    <a:pt x="8" y="50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85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629676" y="3425457"/>
              <a:ext cx="9087" cy="531603"/>
            </a:xfrm>
            <a:custGeom>
              <a:avLst/>
              <a:gdLst>
                <a:gd name="T0" fmla="*/ 2147483647 w 8"/>
                <a:gd name="T1" fmla="*/ 0 h 468"/>
                <a:gd name="T2" fmla="*/ 0 w 8"/>
                <a:gd name="T3" fmla="*/ 0 h 468"/>
                <a:gd name="T4" fmla="*/ 0 w 8"/>
                <a:gd name="T5" fmla="*/ 2147483647 h 468"/>
                <a:gd name="T6" fmla="*/ 2147483647 w 8"/>
                <a:gd name="T7" fmla="*/ 2147483647 h 468"/>
                <a:gd name="T8" fmla="*/ 2147483647 w 8"/>
                <a:gd name="T9" fmla="*/ 2147483647 h 468"/>
                <a:gd name="T10" fmla="*/ 2147483647 w 8"/>
                <a:gd name="T11" fmla="*/ 0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0"/>
                  </a:moveTo>
                  <a:lnTo>
                    <a:pt x="0" y="0"/>
                  </a:lnTo>
                  <a:lnTo>
                    <a:pt x="0" y="467"/>
                  </a:lnTo>
                  <a:lnTo>
                    <a:pt x="3" y="468"/>
                  </a:lnTo>
                  <a:lnTo>
                    <a:pt x="8" y="46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86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5361198" y="3403875"/>
              <a:ext cx="9087" cy="574767"/>
            </a:xfrm>
            <a:custGeom>
              <a:avLst/>
              <a:gdLst>
                <a:gd name="T0" fmla="*/ 2147483647 w 8"/>
                <a:gd name="T1" fmla="*/ 0 h 506"/>
                <a:gd name="T2" fmla="*/ 0 w 8"/>
                <a:gd name="T3" fmla="*/ 0 h 506"/>
                <a:gd name="T4" fmla="*/ 0 w 8"/>
                <a:gd name="T5" fmla="*/ 2147483647 h 506"/>
                <a:gd name="T6" fmla="*/ 2147483647 w 8"/>
                <a:gd name="T7" fmla="*/ 2147483647 h 506"/>
                <a:gd name="T8" fmla="*/ 2147483647 w 8"/>
                <a:gd name="T9" fmla="*/ 2147483647 h 506"/>
                <a:gd name="T10" fmla="*/ 2147483647 w 8"/>
                <a:gd name="T11" fmla="*/ 0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8" y="50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87"/>
            <p:cNvSpPr/>
            <p:nvPr>
              <p:custDataLst>
                <p:tags r:id="rId23"/>
              </p:custDataLst>
            </p:nvPr>
          </p:nvSpPr>
          <p:spPr bwMode="auto">
            <a:xfrm rot="5400000">
              <a:off x="6172801" y="3327202"/>
              <a:ext cx="9087" cy="728114"/>
            </a:xfrm>
            <a:custGeom>
              <a:avLst/>
              <a:gdLst>
                <a:gd name="T0" fmla="*/ 2147483647 w 8"/>
                <a:gd name="T1" fmla="*/ 2147483647 h 641"/>
                <a:gd name="T2" fmla="*/ 2147483647 w 8"/>
                <a:gd name="T3" fmla="*/ 2147483647 h 641"/>
                <a:gd name="T4" fmla="*/ 0 w 8"/>
                <a:gd name="T5" fmla="*/ 2147483647 h 641"/>
                <a:gd name="T6" fmla="*/ 0 w 8"/>
                <a:gd name="T7" fmla="*/ 0 h 641"/>
                <a:gd name="T8" fmla="*/ 2147483647 w 8"/>
                <a:gd name="T9" fmla="*/ 0 h 641"/>
                <a:gd name="T10" fmla="*/ 2147483647 w 8"/>
                <a:gd name="T11" fmla="*/ 0 h 641"/>
                <a:gd name="T12" fmla="*/ 2147483647 w 8"/>
                <a:gd name="T13" fmla="*/ 2147483647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641"/>
                <a:gd name="T23" fmla="*/ 8 w 8"/>
                <a:gd name="T24" fmla="*/ 641 h 6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641">
                  <a:moveTo>
                    <a:pt x="8" y="640"/>
                  </a:moveTo>
                  <a:lnTo>
                    <a:pt x="3" y="641"/>
                  </a:lnTo>
                  <a:lnTo>
                    <a:pt x="0" y="640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8" y="64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88"/>
            <p:cNvSpPr/>
            <p:nvPr>
              <p:custDataLst>
                <p:tags r:id="rId24"/>
              </p:custDataLst>
            </p:nvPr>
          </p:nvSpPr>
          <p:spPr bwMode="auto">
            <a:xfrm rot="5400000">
              <a:off x="7303593" y="3529960"/>
              <a:ext cx="1059798" cy="323733"/>
            </a:xfrm>
            <a:custGeom>
              <a:avLst/>
              <a:gdLst>
                <a:gd name="T0" fmla="*/ 2147483647 w 933"/>
                <a:gd name="T1" fmla="*/ 0 h 285"/>
                <a:gd name="T2" fmla="*/ 0 w 933"/>
                <a:gd name="T3" fmla="*/ 2147483647 h 285"/>
                <a:gd name="T4" fmla="*/ 0 w 933"/>
                <a:gd name="T5" fmla="*/ 2147483647 h 285"/>
                <a:gd name="T6" fmla="*/ 2147483647 w 933"/>
                <a:gd name="T7" fmla="*/ 2147483647 h 285"/>
                <a:gd name="T8" fmla="*/ 2147483647 w 933"/>
                <a:gd name="T9" fmla="*/ 2147483647 h 285"/>
                <a:gd name="T10" fmla="*/ 2147483647 w 933"/>
                <a:gd name="T11" fmla="*/ 2147483647 h 285"/>
                <a:gd name="T12" fmla="*/ 2147483647 w 933"/>
                <a:gd name="T13" fmla="*/ 0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0"/>
                  </a:moveTo>
                  <a:lnTo>
                    <a:pt x="0" y="280"/>
                  </a:lnTo>
                  <a:lnTo>
                    <a:pt x="0" y="285"/>
                  </a:lnTo>
                  <a:lnTo>
                    <a:pt x="465" y="10"/>
                  </a:lnTo>
                  <a:lnTo>
                    <a:pt x="933" y="285"/>
                  </a:lnTo>
                  <a:lnTo>
                    <a:pt x="933" y="280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89"/>
            <p:cNvSpPr/>
            <p:nvPr>
              <p:custDataLst>
                <p:tags r:id="rId25"/>
              </p:custDataLst>
            </p:nvPr>
          </p:nvSpPr>
          <p:spPr bwMode="auto">
            <a:xfrm rot="5400000">
              <a:off x="6837871" y="3587891"/>
              <a:ext cx="1059798" cy="207871"/>
            </a:xfrm>
            <a:custGeom>
              <a:avLst/>
              <a:gdLst>
                <a:gd name="T0" fmla="*/ 0 w 933"/>
                <a:gd name="T1" fmla="*/ 2147483647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2147483647 h 183"/>
                <a:gd name="T8" fmla="*/ 2147483647 w 933"/>
                <a:gd name="T9" fmla="*/ 2147483647 h 183"/>
                <a:gd name="T10" fmla="*/ 2147483647 w 933"/>
                <a:gd name="T11" fmla="*/ 0 h 183"/>
                <a:gd name="T12" fmla="*/ 2147483647 w 933"/>
                <a:gd name="T13" fmla="*/ 0 h 183"/>
                <a:gd name="T14" fmla="*/ 0 w 933"/>
                <a:gd name="T15" fmla="*/ 2147483647 h 183"/>
                <a:gd name="T16" fmla="*/ 0 w 933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183"/>
                  </a:moveTo>
                  <a:lnTo>
                    <a:pt x="462" y="7"/>
                  </a:lnTo>
                  <a:lnTo>
                    <a:pt x="470" y="7"/>
                  </a:lnTo>
                  <a:lnTo>
                    <a:pt x="933" y="183"/>
                  </a:lnTo>
                  <a:lnTo>
                    <a:pt x="933" y="178"/>
                  </a:lnTo>
                  <a:lnTo>
                    <a:pt x="470" y="0"/>
                  </a:lnTo>
                  <a:lnTo>
                    <a:pt x="462" y="0"/>
                  </a:lnTo>
                  <a:lnTo>
                    <a:pt x="0" y="178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90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6303998" y="3559494"/>
              <a:ext cx="1697039" cy="263530"/>
            </a:xfrm>
            <a:custGeom>
              <a:avLst/>
              <a:gdLst>
                <a:gd name="T0" fmla="*/ 2147483647 w 1494"/>
                <a:gd name="T1" fmla="*/ 0 h 232"/>
                <a:gd name="T2" fmla="*/ 0 w 1494"/>
                <a:gd name="T3" fmla="*/ 2147483647 h 232"/>
                <a:gd name="T4" fmla="*/ 0 w 1494"/>
                <a:gd name="T5" fmla="*/ 2147483647 h 232"/>
                <a:gd name="T6" fmla="*/ 2147483647 w 1494"/>
                <a:gd name="T7" fmla="*/ 2147483647 h 232"/>
                <a:gd name="T8" fmla="*/ 2147483647 w 1494"/>
                <a:gd name="T9" fmla="*/ 2147483647 h 232"/>
                <a:gd name="T10" fmla="*/ 2147483647 w 1494"/>
                <a:gd name="T11" fmla="*/ 2147483647 h 232"/>
                <a:gd name="T12" fmla="*/ 2147483647 w 1494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2"/>
                <a:gd name="T23" fmla="*/ 1494 w 1494"/>
                <a:gd name="T24" fmla="*/ 232 h 2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2">
                  <a:moveTo>
                    <a:pt x="746" y="0"/>
                  </a:moveTo>
                  <a:lnTo>
                    <a:pt x="0" y="224"/>
                  </a:lnTo>
                  <a:lnTo>
                    <a:pt x="0" y="232"/>
                  </a:lnTo>
                  <a:lnTo>
                    <a:pt x="746" y="10"/>
                  </a:lnTo>
                  <a:lnTo>
                    <a:pt x="1494" y="232"/>
                  </a:lnTo>
                  <a:lnTo>
                    <a:pt x="1494" y="224"/>
                  </a:lnTo>
                  <a:lnTo>
                    <a:pt x="746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91"/>
            <p:cNvSpPr/>
            <p:nvPr>
              <p:custDataLst>
                <p:tags r:id="rId27"/>
              </p:custDataLst>
            </p:nvPr>
          </p:nvSpPr>
          <p:spPr bwMode="auto">
            <a:xfrm rot="5400000">
              <a:off x="5804200" y="3621969"/>
              <a:ext cx="1697039" cy="138580"/>
            </a:xfrm>
            <a:custGeom>
              <a:avLst/>
              <a:gdLst>
                <a:gd name="T0" fmla="*/ 2147483647 w 1494"/>
                <a:gd name="T1" fmla="*/ 0 h 122"/>
                <a:gd name="T2" fmla="*/ 0 w 1494"/>
                <a:gd name="T3" fmla="*/ 2147483647 h 122"/>
                <a:gd name="T4" fmla="*/ 0 w 1494"/>
                <a:gd name="T5" fmla="*/ 2147483647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2147483647 h 122"/>
                <a:gd name="T12" fmla="*/ 2147483647 w 1494"/>
                <a:gd name="T13" fmla="*/ 2147483647 h 122"/>
                <a:gd name="T14" fmla="*/ 2147483647 w 1494"/>
                <a:gd name="T15" fmla="*/ 0 h 122"/>
                <a:gd name="T16" fmla="*/ 2147483647 w 149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0"/>
                  </a:moveTo>
                  <a:lnTo>
                    <a:pt x="0" y="113"/>
                  </a:lnTo>
                  <a:lnTo>
                    <a:pt x="0" y="122"/>
                  </a:lnTo>
                  <a:lnTo>
                    <a:pt x="743" y="11"/>
                  </a:lnTo>
                  <a:lnTo>
                    <a:pt x="751" y="11"/>
                  </a:lnTo>
                  <a:lnTo>
                    <a:pt x="1494" y="122"/>
                  </a:lnTo>
                  <a:lnTo>
                    <a:pt x="1494" y="113"/>
                  </a:lnTo>
                  <a:lnTo>
                    <a:pt x="751" y="0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92"/>
            <p:cNvSpPr/>
            <p:nvPr>
              <p:custDataLst>
                <p:tags r:id="rId28"/>
              </p:custDataLst>
            </p:nvPr>
          </p:nvSpPr>
          <p:spPr bwMode="auto">
            <a:xfrm rot="5400000">
              <a:off x="4000386" y="3529960"/>
              <a:ext cx="1059798" cy="323733"/>
            </a:xfrm>
            <a:custGeom>
              <a:avLst/>
              <a:gdLst>
                <a:gd name="T0" fmla="*/ 2147483647 w 933"/>
                <a:gd name="T1" fmla="*/ 2147483647 h 285"/>
                <a:gd name="T2" fmla="*/ 0 w 933"/>
                <a:gd name="T3" fmla="*/ 2147483647 h 285"/>
                <a:gd name="T4" fmla="*/ 0 w 933"/>
                <a:gd name="T5" fmla="*/ 0 h 285"/>
                <a:gd name="T6" fmla="*/ 2147483647 w 933"/>
                <a:gd name="T7" fmla="*/ 2147483647 h 285"/>
                <a:gd name="T8" fmla="*/ 2147483647 w 933"/>
                <a:gd name="T9" fmla="*/ 0 h 285"/>
                <a:gd name="T10" fmla="*/ 2147483647 w 933"/>
                <a:gd name="T11" fmla="*/ 2147483647 h 285"/>
                <a:gd name="T12" fmla="*/ 2147483647 w 933"/>
                <a:gd name="T13" fmla="*/ 2147483647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28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65" y="275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65" y="285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93"/>
            <p:cNvSpPr/>
            <p:nvPr>
              <p:custDataLst>
                <p:tags r:id="rId29"/>
              </p:custDataLst>
            </p:nvPr>
          </p:nvSpPr>
          <p:spPr bwMode="auto">
            <a:xfrm rot="5400000">
              <a:off x="4466105" y="3587891"/>
              <a:ext cx="1059798" cy="207871"/>
            </a:xfrm>
            <a:custGeom>
              <a:avLst/>
              <a:gdLst>
                <a:gd name="T0" fmla="*/ 0 w 933"/>
                <a:gd name="T1" fmla="*/ 0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0 h 183"/>
                <a:gd name="T8" fmla="*/ 2147483647 w 933"/>
                <a:gd name="T9" fmla="*/ 2147483647 h 183"/>
                <a:gd name="T10" fmla="*/ 2147483647 w 933"/>
                <a:gd name="T11" fmla="*/ 2147483647 h 183"/>
                <a:gd name="T12" fmla="*/ 2147483647 w 933"/>
                <a:gd name="T13" fmla="*/ 2147483647 h 183"/>
                <a:gd name="T14" fmla="*/ 0 w 933"/>
                <a:gd name="T15" fmla="*/ 2147483647 h 183"/>
                <a:gd name="T16" fmla="*/ 0 w 933"/>
                <a:gd name="T17" fmla="*/ 0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0"/>
                  </a:moveTo>
                  <a:lnTo>
                    <a:pt x="462" y="176"/>
                  </a:lnTo>
                  <a:lnTo>
                    <a:pt x="470" y="176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70" y="183"/>
                  </a:lnTo>
                  <a:lnTo>
                    <a:pt x="462" y="183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94"/>
            <p:cNvSpPr/>
            <p:nvPr>
              <p:custDataLst>
                <p:tags r:id="rId30"/>
              </p:custDataLst>
            </p:nvPr>
          </p:nvSpPr>
          <p:spPr bwMode="auto">
            <a:xfrm rot="5400000">
              <a:off x="4362170" y="3558926"/>
              <a:ext cx="1697039" cy="264666"/>
            </a:xfrm>
            <a:custGeom>
              <a:avLst/>
              <a:gdLst>
                <a:gd name="T0" fmla="*/ 2147483647 w 1494"/>
                <a:gd name="T1" fmla="*/ 2147483647 h 233"/>
                <a:gd name="T2" fmla="*/ 0 w 1494"/>
                <a:gd name="T3" fmla="*/ 2147483647 h 233"/>
                <a:gd name="T4" fmla="*/ 0 w 1494"/>
                <a:gd name="T5" fmla="*/ 0 h 233"/>
                <a:gd name="T6" fmla="*/ 2147483647 w 1494"/>
                <a:gd name="T7" fmla="*/ 2147483647 h 233"/>
                <a:gd name="T8" fmla="*/ 2147483647 w 1494"/>
                <a:gd name="T9" fmla="*/ 0 h 233"/>
                <a:gd name="T10" fmla="*/ 2147483647 w 1494"/>
                <a:gd name="T11" fmla="*/ 2147483647 h 233"/>
                <a:gd name="T12" fmla="*/ 2147483647 w 1494"/>
                <a:gd name="T13" fmla="*/ 2147483647 h 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3"/>
                <a:gd name="T23" fmla="*/ 1494 w 1494"/>
                <a:gd name="T24" fmla="*/ 233 h 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3">
                  <a:moveTo>
                    <a:pt x="746" y="23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6" y="22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46" y="23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95"/>
            <p:cNvSpPr/>
            <p:nvPr>
              <p:custDataLst>
                <p:tags r:id="rId31"/>
              </p:custDataLst>
            </p:nvPr>
          </p:nvSpPr>
          <p:spPr bwMode="auto">
            <a:xfrm rot="5400000">
              <a:off x="4862537" y="3621969"/>
              <a:ext cx="1697039" cy="138580"/>
            </a:xfrm>
            <a:custGeom>
              <a:avLst/>
              <a:gdLst>
                <a:gd name="T0" fmla="*/ 2147483647 w 1494"/>
                <a:gd name="T1" fmla="*/ 2147483647 h 122"/>
                <a:gd name="T2" fmla="*/ 0 w 1494"/>
                <a:gd name="T3" fmla="*/ 2147483647 h 122"/>
                <a:gd name="T4" fmla="*/ 0 w 1494"/>
                <a:gd name="T5" fmla="*/ 0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0 h 122"/>
                <a:gd name="T12" fmla="*/ 2147483647 w 1494"/>
                <a:gd name="T13" fmla="*/ 2147483647 h 122"/>
                <a:gd name="T14" fmla="*/ 2147483647 w 1494"/>
                <a:gd name="T15" fmla="*/ 2147483647 h 122"/>
                <a:gd name="T16" fmla="*/ 2147483647 w 1494"/>
                <a:gd name="T17" fmla="*/ 2147483647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122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3" y="112"/>
                  </a:lnTo>
                  <a:lnTo>
                    <a:pt x="751" y="11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51" y="122"/>
                  </a:lnTo>
                  <a:lnTo>
                    <a:pt x="743" y="122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96"/>
            <p:cNvSpPr/>
            <p:nvPr>
              <p:custDataLst>
                <p:tags r:id="rId32"/>
              </p:custDataLst>
            </p:nvPr>
          </p:nvSpPr>
          <p:spPr bwMode="auto">
            <a:xfrm rot="5400000">
              <a:off x="5303835" y="3621400"/>
              <a:ext cx="2335417" cy="139716"/>
            </a:xfrm>
            <a:custGeom>
              <a:avLst/>
              <a:gdLst>
                <a:gd name="T0" fmla="*/ 2147483647 w 2056"/>
                <a:gd name="T1" fmla="*/ 0 h 123"/>
                <a:gd name="T2" fmla="*/ 0 w 2056"/>
                <a:gd name="T3" fmla="*/ 2147483647 h 123"/>
                <a:gd name="T4" fmla="*/ 0 w 2056"/>
                <a:gd name="T5" fmla="*/ 2147483647 h 123"/>
                <a:gd name="T6" fmla="*/ 2147483647 w 2056"/>
                <a:gd name="T7" fmla="*/ 2147483647 h 123"/>
                <a:gd name="T8" fmla="*/ 2147483647 w 2056"/>
                <a:gd name="T9" fmla="*/ 2147483647 h 123"/>
                <a:gd name="T10" fmla="*/ 2147483647 w 2056"/>
                <a:gd name="T11" fmla="*/ 2147483647 h 123"/>
                <a:gd name="T12" fmla="*/ 2147483647 w 2056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23"/>
                <a:gd name="T23" fmla="*/ 2056 w 2056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23">
                  <a:moveTo>
                    <a:pt x="1027" y="0"/>
                  </a:moveTo>
                  <a:lnTo>
                    <a:pt x="0" y="111"/>
                  </a:lnTo>
                  <a:lnTo>
                    <a:pt x="0" y="123"/>
                  </a:lnTo>
                  <a:lnTo>
                    <a:pt x="1027" y="14"/>
                  </a:lnTo>
                  <a:lnTo>
                    <a:pt x="2056" y="123"/>
                  </a:lnTo>
                  <a:lnTo>
                    <a:pt x="2056" y="111"/>
                  </a:lnTo>
                  <a:lnTo>
                    <a:pt x="102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97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4713165" y="3623672"/>
              <a:ext cx="2335417" cy="135173"/>
            </a:xfrm>
            <a:custGeom>
              <a:avLst/>
              <a:gdLst>
                <a:gd name="T0" fmla="*/ 2147483647 w 2056"/>
                <a:gd name="T1" fmla="*/ 2147483647 h 119"/>
                <a:gd name="T2" fmla="*/ 0 w 2056"/>
                <a:gd name="T3" fmla="*/ 2147483647 h 119"/>
                <a:gd name="T4" fmla="*/ 0 w 2056"/>
                <a:gd name="T5" fmla="*/ 0 h 119"/>
                <a:gd name="T6" fmla="*/ 2147483647 w 2056"/>
                <a:gd name="T7" fmla="*/ 2147483647 h 119"/>
                <a:gd name="T8" fmla="*/ 2147483647 w 2056"/>
                <a:gd name="T9" fmla="*/ 0 h 119"/>
                <a:gd name="T10" fmla="*/ 2147483647 w 2056"/>
                <a:gd name="T11" fmla="*/ 2147483647 h 119"/>
                <a:gd name="T12" fmla="*/ 2147483647 w 2056"/>
                <a:gd name="T13" fmla="*/ 2147483647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19"/>
                <a:gd name="T23" fmla="*/ 2056 w 205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19">
                  <a:moveTo>
                    <a:pt x="1027" y="119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027" y="104"/>
                  </a:lnTo>
                  <a:lnTo>
                    <a:pt x="2056" y="0"/>
                  </a:lnTo>
                  <a:lnTo>
                    <a:pt x="2056" y="10"/>
                  </a:lnTo>
                  <a:lnTo>
                    <a:pt x="1027" y="11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37" name="稻壳儿佳誉设计_9"/>
          <p:cNvCxnSpPr>
            <a:cxnSpLocks noChangeShapeType="1"/>
          </p:cNvCxnSpPr>
          <p:nvPr>
            <p:custDataLst>
              <p:tags r:id="rId34"/>
            </p:custDataLst>
          </p:nvPr>
        </p:nvCxnSpPr>
        <p:spPr bwMode="auto">
          <a:xfrm>
            <a:off x="6492875" y="24907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sp>
        <p:nvSpPr>
          <p:cNvPr id="38" name="稻壳儿佳誉设计_1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994736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数据隐私风险突出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稻壳儿佳誉设计_1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984250" y="2247900"/>
            <a:ext cx="3019425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学生行为数据（出入记录、消费轨迹等）关联个人敏感信息，现有校园平台集中存储模式易引发数据泄露、非法滥用，直接威胁学生隐私安全。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稻壳儿佳誉设计_1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233658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 dirty="0">
                <a:solidFill>
                  <a:schemeClr val="accent1"/>
                </a:solidFill>
                <a:cs typeface="+mn-ea"/>
                <a:sym typeface="+mn-lt"/>
              </a:rPr>
              <a:t>终端硬件资源受限</a:t>
            </a:r>
            <a:endParaRPr lang="zh-CN" altLang="en-US" sz="1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稻壳儿佳誉设计_13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8183880" y="2247900"/>
            <a:ext cx="2856230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校园物联网设备多为低算力终端（算力＜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1TOPS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、内存＜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2GB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），难以承载复杂隐私保护算法，技术落地存在硬件瓶颈。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稻壳儿佳誉设计_1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12035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传统方案适配性差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稻壳儿佳誉设计_1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663" y="3822700"/>
            <a:ext cx="2119312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主流隐私保护技术计算复杂度高，单次加密耗时超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1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秒，无法适配校园低功耗物联网终端。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稻壳儿佳誉设计_1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9529058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隐私与服务难兼顾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5" name="稻壳儿佳誉设计_1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478963" y="3822700"/>
            <a:ext cx="2119312" cy="69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过度隐私保护会降低校园服务效率，需在隐私安全与服务便捷间找到平衡。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5039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社区糖尿病家庭照护者足部护理知信行与干预研究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999453" y="179324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74781" y="1536381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疾病负担：糖尿病足防控需求迫切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1408611" y="3196581"/>
            <a:ext cx="1587263" cy="1368152"/>
          </a:xfrm>
          <a:prstGeom prst="hexago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17500" dist="50800" dir="5400000" algn="ctr" rotWithShape="0">
              <a:schemeClr val="accent6">
                <a:alpha val="65000"/>
              </a:schemeClr>
            </a:outerShdw>
          </a:effectLst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研究背景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cxnSp>
        <p:nvCxnSpPr>
          <p:cNvPr id="6" name="直接箭头连接符 5"/>
          <p:cNvCxnSpPr>
            <a:stCxn id="5" idx="5"/>
            <a:endCxn id="3" idx="1"/>
          </p:cNvCxnSpPr>
          <p:nvPr/>
        </p:nvCxnSpPr>
        <p:spPr>
          <a:xfrm flipV="1">
            <a:off x="2653836" y="2352669"/>
            <a:ext cx="1345617" cy="8439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5" idx="0"/>
            <a:endCxn id="10" idx="1"/>
          </p:cNvCxnSpPr>
          <p:nvPr/>
        </p:nvCxnSpPr>
        <p:spPr>
          <a:xfrm flipV="1">
            <a:off x="2995874" y="3877482"/>
            <a:ext cx="1003300" cy="3175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8" name="直接箭头连接符 7"/>
          <p:cNvCxnSpPr>
            <a:stCxn id="5" idx="1"/>
            <a:endCxn id="13" idx="1"/>
          </p:cNvCxnSpPr>
          <p:nvPr/>
        </p:nvCxnSpPr>
        <p:spPr>
          <a:xfrm>
            <a:off x="2653837" y="4564733"/>
            <a:ext cx="1345565" cy="90551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sp>
        <p:nvSpPr>
          <p:cNvPr id="9" name="文本框30"/>
          <p:cNvSpPr txBox="1"/>
          <p:nvPr>
            <p:custDataLst>
              <p:tags r:id="rId3"/>
            </p:custDataLst>
          </p:nvPr>
        </p:nvSpPr>
        <p:spPr>
          <a:xfrm>
            <a:off x="4393506" y="2045132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我国成人糖尿病患病率高，糖尿病足致残率、治疗成本高，既降低患者生活质量，也加重医疗负担，防控需求迫切。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3999453" y="3318347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074781" y="3111053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 </a:t>
            </a: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照护角色：家庭照护者为关键实施者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文本框 33"/>
          <p:cNvSpPr txBox="1"/>
          <p:nvPr>
            <p:custDataLst>
              <p:tags r:id="rId6"/>
            </p:custDataLst>
          </p:nvPr>
        </p:nvSpPr>
        <p:spPr>
          <a:xfrm>
            <a:off x="4393506" y="361324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社区糖尿病患者以居家照护为主，家庭照护者承担足部清洁、风险观察等核心任务，其能力直接影响患者足部健康。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99453" y="491069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5074781" y="4703404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服务缺口：照护者专项指导匮乏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5" name="文本框 36"/>
          <p:cNvSpPr txBox="1"/>
          <p:nvPr>
            <p:custDataLst>
              <p:tags r:id="rId9"/>
            </p:custDataLst>
          </p:nvPr>
        </p:nvSpPr>
        <p:spPr>
          <a:xfrm>
            <a:off x="4393506" y="517511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社区糖尿病护理指导多针对患者，针对照护者的足部护理专项指导与干预不足，无法满足实际需求。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幼儿园大班生活自理能力培养的游戏化策略研究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研究背景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选题聚焦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大班幼儿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这一特定年龄段、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这一具体能力、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游戏化策略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这一实施方式，维度细分明确，符合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学科开题的聚焦性要求。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现实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实践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《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3-6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岁儿童学习与发展指南》将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列为健康目标，要求大班幼儿掌握整理书包技能。学前教育发展下，生活自理能力是基础，政策为其培养指明方向。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大班是幼小衔接关键期，小学对幼儿自主管理能力要求提升。但多数大班幼儿依赖家长代劳，进入小学后部分出现适应困难，凸显培养生活自理能力的迫切性。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幼儿园教师认可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游戏是幼儿基本活动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，但培养生活自理能力时仍用说教、示范等传统方式，幼儿参与积极性低。部分教师尝试融入游戏，但缺乏系统策略，导致效果不佳。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智能家居嵌入式设备低功耗异常检测算法研究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智能家居设备低功耗需求迫切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智能家居设备（如温湿度传感器、门窗感应器）多依赖电池供电，用户对设备续航期望普遍超过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1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年，但现有异常检测算法能耗高，易导致设备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3-6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个月需更换电池，影响使用体验。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传统异常检测算法适配性差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主流异常检测算法（如支持向量机、传统神经网络）参数量大，单次推理需占用嵌入式设备（如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ESP32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芯片）超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60%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算力，易导致设备卡顿，甚至无法同时运行感知、通信功能。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设备异常后果影响广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智能家居设备异常（如燃气传感器误报、门锁异常开启）不仅影响日常使用，还可能引发安全风险（如燃气泄漏未及时预警），需算法在低功耗前提下保证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≥95%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的异常识别准确率。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低功耗与精度难平衡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现有低功耗算法（如基于阈值的简单检测）虽降低能耗，但忽略设备运行的动态变化（如传感器受环境温湿度影响），异常误报率超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20%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，无法满足用户对检测精度的需求。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02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核心技术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CORE TECHNOLOGIES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80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可解释的人机协同审批模型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9" name="任意多边形: 形状 4"/>
          <p:cNvSpPr/>
          <p:nvPr>
            <p:custDataLst>
              <p:tags r:id="rId1"/>
            </p:custDataLst>
          </p:nvPr>
        </p:nvSpPr>
        <p:spPr>
          <a:xfrm rot="10800000">
            <a:off x="525077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25076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3"/>
            </p:custDataLst>
          </p:nvPr>
        </p:nvCxnSpPr>
        <p:spPr>
          <a:xfrm>
            <a:off x="1750352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90352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AI辅助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563330" y="2826331"/>
            <a:ext cx="242100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字段归一化、材料理解、政策检索、风险提示、意见草稿——AI提供证据和建议，不替代行政判断。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 rot="10800000">
            <a:off x="3453060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3453059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8"/>
            </p:custDataLst>
          </p:nvPr>
        </p:nvCxnSpPr>
        <p:spPr>
          <a:xfrm>
            <a:off x="4678335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618335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人工决策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/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3491313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通过、驳回、需修改等最终行政决定由审批人做出，审批意见与AI建议同屏展示，支持一键采纳或覆盖。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1"/>
            </p:custDataLst>
          </p:nvPr>
        </p:nvSpPr>
        <p:spPr>
          <a:xfrm rot="10800000">
            <a:off x="6381043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381042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3"/>
            </p:custDataLst>
          </p:nvPr>
        </p:nvCxnSpPr>
        <p:spPr>
          <a:xfrm>
            <a:off x="7606318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546318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依据可见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/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6419296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政策引用、逐项检查、相似案例和风险等级同步展示，AI输出可追溯、可解释，审批人可核查每一条依据。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6"/>
            </p:custDataLst>
          </p:nvPr>
        </p:nvSpPr>
        <p:spPr>
          <a:xfrm rot="10800000">
            <a:off x="9309026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9309025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18"/>
            </p:custDataLst>
          </p:nvPr>
        </p:nvCxnSpPr>
        <p:spPr>
          <a:xfrm>
            <a:off x="10534301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9474301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状态可追踪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/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47279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pending/approved/rejected/needs_revision/withdrawn 五种状态，阶段历史记录完整保留，支持撤回重提与催办。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/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259840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187823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7115806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10043789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7148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儿童哮喘家庭照护者吸入装置操作规范性与干预研究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3890" y="1876455"/>
          <a:ext cx="5852160" cy="3669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92907" y="1722862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患儿健康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7385" y="2159635"/>
            <a:ext cx="213042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《中国儿童哮喘防治指南（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年版）》数据：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儿童哮喘急性发作与吸入装置操作不当有关；提升照护者操作规范性可降低发作。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9377680" y="158496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217074" y="16764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照护者能力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541561" y="21132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儿童哮喘家庭照护者能规范操作吸入装置；本研究可弥补其操作知识与技能缺口，降低照护焦虑，提升信心与自我效能。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7007883" y="374833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47277" y="383977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医疗资源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171764" y="427665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我国儿科呼吸科住院患者中，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25%-30%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为哮喘急性发作，单次住院费约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5000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元；规范操作可降低住院率，缓解资源紧张。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217074" y="38030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社区护理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41561" y="42398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18%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社区卫生服务中心开展儿童哮喘照护者培训；本研究方案可提供标准化指导，推动服务体系建设，填补基层照护者服务空白。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AI辅助流程，人保留最终决策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方正宝黑体 简 Medium" panose="02010600010101010101" charset="-122"/>
                </a:rPr>
                <a:t>申请人：智能填表与自查</a:t>
              </a:r>
              <a:endParaRPr lang="zh-CN" altLang="en-US" sz="2400" b="1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自然语言描述或材料上传，AI自动识别事项类型并预填表单字段；提交前合规自查，降低退回率。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审批人：AI辅助决策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政策检索、风险分析、缺失字段标记与意见草稿，审批人依据AI建议做出最终行政决策。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管理者：统一监控治理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多角色、多阶段、多资源、多通知和系统监控体系，支持跨学校边界管理与服务等级规划。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17690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WSN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数据传输抗干扰节能优化研究意义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52" name="Chart 6"/>
          <p:cNvGraphicFramePr/>
          <p:nvPr/>
        </p:nvGraphicFramePr>
        <p:xfrm>
          <a:off x="3243398" y="1509504"/>
          <a:ext cx="8264862" cy="179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图表 52"/>
          <p:cNvGraphicFramePr/>
          <p:nvPr/>
        </p:nvGraphicFramePr>
        <p:xfrm>
          <a:off x="719598" y="1340656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文本框 375"/>
          <p:cNvSpPr txBox="1"/>
          <p:nvPr/>
        </p:nvSpPr>
        <p:spPr>
          <a:xfrm>
            <a:off x="1123189" y="2134178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55" name="TextBox 12"/>
          <p:cNvSpPr txBox="1"/>
          <p:nvPr/>
        </p:nvSpPr>
        <p:spPr>
          <a:xfrm>
            <a:off x="1294130" y="2583815"/>
            <a:ext cx="112839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研究数据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6" name="Oval 22"/>
          <p:cNvSpPr/>
          <p:nvPr>
            <p:custDataLst>
              <p:tags r:id="rId5"/>
            </p:custDataLst>
          </p:nvPr>
        </p:nvSpPr>
        <p:spPr>
          <a:xfrm>
            <a:off x="1123189" y="4156530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7" name="Oval 22"/>
          <p:cNvSpPr/>
          <p:nvPr>
            <p:custDataLst>
              <p:tags r:id="rId6"/>
            </p:custDataLst>
          </p:nvPr>
        </p:nvSpPr>
        <p:spPr>
          <a:xfrm>
            <a:off x="1255365" y="4285797"/>
            <a:ext cx="275757" cy="281575"/>
          </a:xfrm>
          <a:custGeom>
            <a:avLst/>
            <a:gdLst>
              <a:gd name="T0" fmla="*/ 7275 w 12440"/>
              <a:gd name="T1" fmla="*/ 12703 h 12703"/>
              <a:gd name="T2" fmla="*/ 7045 w 12440"/>
              <a:gd name="T3" fmla="*/ 12634 h 12703"/>
              <a:gd name="T4" fmla="*/ 4790 w 12440"/>
              <a:gd name="T5" fmla="*/ 11141 h 12703"/>
              <a:gd name="T6" fmla="*/ 4603 w 12440"/>
              <a:gd name="T7" fmla="*/ 10793 h 12703"/>
              <a:gd name="T8" fmla="*/ 4603 w 12440"/>
              <a:gd name="T9" fmla="*/ 6406 h 12703"/>
              <a:gd name="T10" fmla="*/ 697 w 12440"/>
              <a:gd name="T11" fmla="*/ 2724 h 12703"/>
              <a:gd name="T12" fmla="*/ 642 w 12440"/>
              <a:gd name="T13" fmla="*/ 2660 h 12703"/>
              <a:gd name="T14" fmla="*/ 282 w 12440"/>
              <a:gd name="T15" fmla="*/ 925 h 12703"/>
              <a:gd name="T16" fmla="*/ 1401 w 12440"/>
              <a:gd name="T17" fmla="*/ 15 h 12703"/>
              <a:gd name="T18" fmla="*/ 1512 w 12440"/>
              <a:gd name="T19" fmla="*/ 0 h 12703"/>
              <a:gd name="T20" fmla="*/ 10879 w 12440"/>
              <a:gd name="T21" fmla="*/ 0 h 12703"/>
              <a:gd name="T22" fmla="*/ 12184 w 12440"/>
              <a:gd name="T23" fmla="*/ 777 h 12703"/>
              <a:gd name="T24" fmla="*/ 11952 w 12440"/>
              <a:gd name="T25" fmla="*/ 2609 h 12703"/>
              <a:gd name="T26" fmla="*/ 11866 w 12440"/>
              <a:gd name="T27" fmla="*/ 2717 h 12703"/>
              <a:gd name="T28" fmla="*/ 7691 w 12440"/>
              <a:gd name="T29" fmla="*/ 6427 h 12703"/>
              <a:gd name="T30" fmla="*/ 7691 w 12440"/>
              <a:gd name="T31" fmla="*/ 12287 h 12703"/>
              <a:gd name="T32" fmla="*/ 7472 w 12440"/>
              <a:gd name="T33" fmla="*/ 12654 h 12703"/>
              <a:gd name="T34" fmla="*/ 7275 w 12440"/>
              <a:gd name="T35" fmla="*/ 12703 h 12703"/>
              <a:gd name="T36" fmla="*/ 5436 w 12440"/>
              <a:gd name="T37" fmla="*/ 10570 h 12703"/>
              <a:gd name="T38" fmla="*/ 6859 w 12440"/>
              <a:gd name="T39" fmla="*/ 11512 h 12703"/>
              <a:gd name="T40" fmla="*/ 6859 w 12440"/>
              <a:gd name="T41" fmla="*/ 6240 h 12703"/>
              <a:gd name="T42" fmla="*/ 6999 w 12440"/>
              <a:gd name="T43" fmla="*/ 5929 h 12703"/>
              <a:gd name="T44" fmla="*/ 11259 w 12440"/>
              <a:gd name="T45" fmla="*/ 2142 h 12703"/>
              <a:gd name="T46" fmla="*/ 11447 w 12440"/>
              <a:gd name="T47" fmla="*/ 1164 h 12703"/>
              <a:gd name="T48" fmla="*/ 10842 w 12440"/>
              <a:gd name="T49" fmla="*/ 831 h 12703"/>
              <a:gd name="T50" fmla="*/ 1571 w 12440"/>
              <a:gd name="T51" fmla="*/ 833 h 12703"/>
              <a:gd name="T52" fmla="*/ 1066 w 12440"/>
              <a:gd name="T53" fmla="*/ 1206 h 12703"/>
              <a:gd name="T54" fmla="*/ 1302 w 12440"/>
              <a:gd name="T55" fmla="*/ 2150 h 12703"/>
              <a:gd name="T56" fmla="*/ 5305 w 12440"/>
              <a:gd name="T57" fmla="*/ 5923 h 12703"/>
              <a:gd name="T58" fmla="*/ 5436 w 12440"/>
              <a:gd name="T59" fmla="*/ 6226 h 12703"/>
              <a:gd name="T60" fmla="*/ 5436 w 12440"/>
              <a:gd name="T61" fmla="*/ 10570 h 12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0" h="12703">
                <a:moveTo>
                  <a:pt x="7275" y="12703"/>
                </a:moveTo>
                <a:cubicBezTo>
                  <a:pt x="7195" y="12703"/>
                  <a:pt x="7114" y="12680"/>
                  <a:pt x="7045" y="12634"/>
                </a:cubicBezTo>
                <a:lnTo>
                  <a:pt x="4790" y="11141"/>
                </a:lnTo>
                <a:cubicBezTo>
                  <a:pt x="4673" y="11063"/>
                  <a:pt x="4603" y="10933"/>
                  <a:pt x="4603" y="10793"/>
                </a:cubicBezTo>
                <a:lnTo>
                  <a:pt x="4603" y="6406"/>
                </a:lnTo>
                <a:lnTo>
                  <a:pt x="697" y="2724"/>
                </a:lnTo>
                <a:cubicBezTo>
                  <a:pt x="677" y="2705"/>
                  <a:pt x="659" y="2683"/>
                  <a:pt x="642" y="2660"/>
                </a:cubicBezTo>
                <a:cubicBezTo>
                  <a:pt x="576" y="2566"/>
                  <a:pt x="0" y="1714"/>
                  <a:pt x="282" y="925"/>
                </a:cubicBezTo>
                <a:cubicBezTo>
                  <a:pt x="391" y="621"/>
                  <a:pt x="674" y="216"/>
                  <a:pt x="1401" y="15"/>
                </a:cubicBezTo>
                <a:cubicBezTo>
                  <a:pt x="1437" y="5"/>
                  <a:pt x="1474" y="0"/>
                  <a:pt x="1512" y="0"/>
                </a:cubicBezTo>
                <a:lnTo>
                  <a:pt x="10879" y="0"/>
                </a:lnTo>
                <a:cubicBezTo>
                  <a:pt x="11010" y="11"/>
                  <a:pt x="11830" y="104"/>
                  <a:pt x="12184" y="777"/>
                </a:cubicBezTo>
                <a:cubicBezTo>
                  <a:pt x="12440" y="1263"/>
                  <a:pt x="12362" y="1880"/>
                  <a:pt x="11952" y="2609"/>
                </a:cubicBezTo>
                <a:cubicBezTo>
                  <a:pt x="11929" y="2650"/>
                  <a:pt x="11900" y="2686"/>
                  <a:pt x="11866" y="2717"/>
                </a:cubicBezTo>
                <a:lnTo>
                  <a:pt x="7691" y="6427"/>
                </a:lnTo>
                <a:lnTo>
                  <a:pt x="7691" y="12287"/>
                </a:lnTo>
                <a:cubicBezTo>
                  <a:pt x="7691" y="12440"/>
                  <a:pt x="7607" y="12581"/>
                  <a:pt x="7472" y="12654"/>
                </a:cubicBezTo>
                <a:cubicBezTo>
                  <a:pt x="7411" y="12687"/>
                  <a:pt x="7343" y="12703"/>
                  <a:pt x="7275" y="12703"/>
                </a:cubicBezTo>
                <a:close/>
                <a:moveTo>
                  <a:pt x="5436" y="10570"/>
                </a:moveTo>
                <a:lnTo>
                  <a:pt x="6859" y="11512"/>
                </a:lnTo>
                <a:lnTo>
                  <a:pt x="6859" y="6240"/>
                </a:lnTo>
                <a:cubicBezTo>
                  <a:pt x="6859" y="6122"/>
                  <a:pt x="6910" y="6008"/>
                  <a:pt x="6999" y="5929"/>
                </a:cubicBezTo>
                <a:lnTo>
                  <a:pt x="11259" y="2142"/>
                </a:lnTo>
                <a:cubicBezTo>
                  <a:pt x="11488" y="1715"/>
                  <a:pt x="11555" y="1370"/>
                  <a:pt x="11447" y="1164"/>
                </a:cubicBezTo>
                <a:cubicBezTo>
                  <a:pt x="11320" y="922"/>
                  <a:pt x="10937" y="840"/>
                  <a:pt x="10842" y="831"/>
                </a:cubicBezTo>
                <a:lnTo>
                  <a:pt x="1571" y="833"/>
                </a:lnTo>
                <a:cubicBezTo>
                  <a:pt x="1294" y="918"/>
                  <a:pt x="1124" y="1043"/>
                  <a:pt x="1066" y="1206"/>
                </a:cubicBezTo>
                <a:cubicBezTo>
                  <a:pt x="955" y="1518"/>
                  <a:pt x="1199" y="1988"/>
                  <a:pt x="1302" y="2150"/>
                </a:cubicBezTo>
                <a:lnTo>
                  <a:pt x="5305" y="5923"/>
                </a:lnTo>
                <a:cubicBezTo>
                  <a:pt x="5389" y="6002"/>
                  <a:pt x="5436" y="6112"/>
                  <a:pt x="5436" y="6226"/>
                </a:cubicBezTo>
                <a:lnTo>
                  <a:pt x="5436" y="10570"/>
                </a:ln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8" name="矩形 57"/>
          <p:cNvSpPr/>
          <p:nvPr>
            <p:custDataLst>
              <p:tags r:id="rId7"/>
            </p:custDataLst>
          </p:nvPr>
        </p:nvSpPr>
        <p:spPr>
          <a:xfrm>
            <a:off x="1703705" y="4095750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解决工业数据传输稳定性痛点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1703664" y="4388485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电磁干扰下数据丢包率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15%-20%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，致监测中断。本研究可降至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以下，保障关键数据采集，减少误判停机。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0" name="Oval 22"/>
          <p:cNvSpPr/>
          <p:nvPr>
            <p:custDataLst>
              <p:tags r:id="rId9"/>
            </p:custDataLst>
          </p:nvPr>
        </p:nvSpPr>
        <p:spPr>
          <a:xfrm>
            <a:off x="1123189" y="5328248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1" name="Oval 22"/>
          <p:cNvSpPr/>
          <p:nvPr>
            <p:custDataLst>
              <p:tags r:id="rId10"/>
            </p:custDataLst>
          </p:nvPr>
        </p:nvSpPr>
        <p:spPr>
          <a:xfrm>
            <a:off x="1252456" y="5459051"/>
            <a:ext cx="281575" cy="278504"/>
          </a:xfrm>
          <a:custGeom>
            <a:avLst/>
            <a:gdLst>
              <a:gd name="T0" fmla="*/ 8893 w 12800"/>
              <a:gd name="T1" fmla="*/ 5239 h 12660"/>
              <a:gd name="T2" fmla="*/ 7643 w 12800"/>
              <a:gd name="T3" fmla="*/ 0 h 12660"/>
              <a:gd name="T4" fmla="*/ 3922 w 12800"/>
              <a:gd name="T5" fmla="*/ 1250 h 12660"/>
              <a:gd name="T6" fmla="*/ 1250 w 12800"/>
              <a:gd name="T7" fmla="*/ 3290 h 12660"/>
              <a:gd name="T8" fmla="*/ 0 w 12800"/>
              <a:gd name="T9" fmla="*/ 11410 h 12660"/>
              <a:gd name="T10" fmla="*/ 8443 w 12800"/>
              <a:gd name="T11" fmla="*/ 12660 h 12660"/>
              <a:gd name="T12" fmla="*/ 11550 w 12800"/>
              <a:gd name="T13" fmla="*/ 12660 h 12660"/>
              <a:gd name="T14" fmla="*/ 12800 w 12800"/>
              <a:gd name="T15" fmla="*/ 6489 h 12660"/>
              <a:gd name="T16" fmla="*/ 3922 w 12800"/>
              <a:gd name="T17" fmla="*/ 12109 h 12660"/>
              <a:gd name="T18" fmla="*/ 551 w 12800"/>
              <a:gd name="T19" fmla="*/ 11410 h 12660"/>
              <a:gd name="T20" fmla="*/ 1250 w 12800"/>
              <a:gd name="T21" fmla="*/ 3841 h 12660"/>
              <a:gd name="T22" fmla="*/ 3922 w 12800"/>
              <a:gd name="T23" fmla="*/ 12109 h 12660"/>
              <a:gd name="T24" fmla="*/ 4472 w 12800"/>
              <a:gd name="T25" fmla="*/ 12109 h 12660"/>
              <a:gd name="T26" fmla="*/ 5171 w 12800"/>
              <a:gd name="T27" fmla="*/ 551 h 12660"/>
              <a:gd name="T28" fmla="*/ 8343 w 12800"/>
              <a:gd name="T29" fmla="*/ 1250 h 12660"/>
              <a:gd name="T30" fmla="*/ 12249 w 12800"/>
              <a:gd name="T31" fmla="*/ 11410 h 12660"/>
              <a:gd name="T32" fmla="*/ 8893 w 12800"/>
              <a:gd name="T33" fmla="*/ 12109 h 12660"/>
              <a:gd name="T34" fmla="*/ 11550 w 12800"/>
              <a:gd name="T35" fmla="*/ 5790 h 12660"/>
              <a:gd name="T36" fmla="*/ 12249 w 12800"/>
              <a:gd name="T37" fmla="*/ 11410 h 12660"/>
              <a:gd name="T38" fmla="*/ 5611 w 12800"/>
              <a:gd name="T39" fmla="*/ 2813 h 12660"/>
              <a:gd name="T40" fmla="*/ 6330 w 12800"/>
              <a:gd name="T41" fmla="*/ 2941 h 12660"/>
              <a:gd name="T42" fmla="*/ 6845 w 12800"/>
              <a:gd name="T43" fmla="*/ 5465 h 12660"/>
              <a:gd name="T44" fmla="*/ 6457 w 12800"/>
              <a:gd name="T45" fmla="*/ 2320 h 12660"/>
              <a:gd name="T46" fmla="*/ 1665 w 12800"/>
              <a:gd name="T47" fmla="*/ 7319 h 12660"/>
              <a:gd name="T48" fmla="*/ 2259 w 12800"/>
              <a:gd name="T49" fmla="*/ 6561 h 12660"/>
              <a:gd name="T50" fmla="*/ 2806 w 12800"/>
              <a:gd name="T51" fmla="*/ 7068 h 12660"/>
              <a:gd name="T52" fmla="*/ 2167 w 12800"/>
              <a:gd name="T53" fmla="*/ 7918 h 12660"/>
              <a:gd name="T54" fmla="*/ 1132 w 12800"/>
              <a:gd name="T55" fmla="*/ 9332 h 12660"/>
              <a:gd name="T56" fmla="*/ 3326 w 12800"/>
              <a:gd name="T57" fmla="*/ 8879 h 12660"/>
              <a:gd name="T58" fmla="*/ 2361 w 12800"/>
              <a:gd name="T59" fmla="*/ 8323 h 12660"/>
              <a:gd name="T60" fmla="*/ 3321 w 12800"/>
              <a:gd name="T61" fmla="*/ 7072 h 12660"/>
              <a:gd name="T62" fmla="*/ 2277 w 12800"/>
              <a:gd name="T63" fmla="*/ 6125 h 12660"/>
              <a:gd name="T64" fmla="*/ 1149 w 12800"/>
              <a:gd name="T65" fmla="*/ 7319 h 12660"/>
              <a:gd name="T66" fmla="*/ 11157 w 12800"/>
              <a:gd name="T67" fmla="*/ 8782 h 12660"/>
              <a:gd name="T68" fmla="*/ 11395 w 12800"/>
              <a:gd name="T69" fmla="*/ 7456 h 12660"/>
              <a:gd name="T70" fmla="*/ 9861 w 12800"/>
              <a:gd name="T71" fmla="*/ 7486 h 12660"/>
              <a:gd name="T72" fmla="*/ 10015 w 12800"/>
              <a:gd name="T73" fmla="*/ 8227 h 12660"/>
              <a:gd name="T74" fmla="*/ 10628 w 12800"/>
              <a:gd name="T75" fmla="*/ 7667 h 12660"/>
              <a:gd name="T76" fmla="*/ 11165 w 12800"/>
              <a:gd name="T77" fmla="*/ 8134 h 12660"/>
              <a:gd name="T78" fmla="*/ 10602 w 12800"/>
              <a:gd name="T79" fmla="*/ 8605 h 12660"/>
              <a:gd name="T80" fmla="*/ 10382 w 12800"/>
              <a:gd name="T81" fmla="*/ 8993 h 12660"/>
              <a:gd name="T82" fmla="*/ 11064 w 12800"/>
              <a:gd name="T83" fmla="*/ 9121 h 12660"/>
              <a:gd name="T84" fmla="*/ 11073 w 12800"/>
              <a:gd name="T85" fmla="*/ 9892 h 12660"/>
              <a:gd name="T86" fmla="*/ 10166 w 12800"/>
              <a:gd name="T87" fmla="*/ 9905 h 12660"/>
              <a:gd name="T88" fmla="*/ 9448 w 12800"/>
              <a:gd name="T89" fmla="*/ 9433 h 12660"/>
              <a:gd name="T90" fmla="*/ 10606 w 12800"/>
              <a:gd name="T91" fmla="*/ 10495 h 12660"/>
              <a:gd name="T92" fmla="*/ 11743 w 12800"/>
              <a:gd name="T93" fmla="*/ 9495 h 12660"/>
              <a:gd name="T94" fmla="*/ 11157 w 12800"/>
              <a:gd name="T95" fmla="*/ 8782 h 12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00" h="12660">
                <a:moveTo>
                  <a:pt x="11550" y="5239"/>
                </a:moveTo>
                <a:lnTo>
                  <a:pt x="8893" y="5239"/>
                </a:lnTo>
                <a:lnTo>
                  <a:pt x="8893" y="1250"/>
                </a:lnTo>
                <a:cubicBezTo>
                  <a:pt x="8893" y="561"/>
                  <a:pt x="8333" y="0"/>
                  <a:pt x="7643" y="0"/>
                </a:cubicBezTo>
                <a:lnTo>
                  <a:pt x="5171" y="0"/>
                </a:lnTo>
                <a:cubicBezTo>
                  <a:pt x="4482" y="0"/>
                  <a:pt x="3922" y="561"/>
                  <a:pt x="3922" y="1250"/>
                </a:cubicBezTo>
                <a:lnTo>
                  <a:pt x="3922" y="3290"/>
                </a:lnTo>
                <a:lnTo>
                  <a:pt x="1250" y="3290"/>
                </a:lnTo>
                <a:cubicBezTo>
                  <a:pt x="561" y="3290"/>
                  <a:pt x="0" y="3851"/>
                  <a:pt x="0" y="4540"/>
                </a:cubicBezTo>
                <a:lnTo>
                  <a:pt x="0" y="11410"/>
                </a:lnTo>
                <a:cubicBezTo>
                  <a:pt x="0" y="12099"/>
                  <a:pt x="561" y="12660"/>
                  <a:pt x="1250" y="12660"/>
                </a:cubicBezTo>
                <a:lnTo>
                  <a:pt x="8443" y="12660"/>
                </a:lnTo>
                <a:lnTo>
                  <a:pt x="8893" y="12660"/>
                </a:lnTo>
                <a:lnTo>
                  <a:pt x="11550" y="12660"/>
                </a:lnTo>
                <a:cubicBezTo>
                  <a:pt x="12239" y="12660"/>
                  <a:pt x="12800" y="12099"/>
                  <a:pt x="12800" y="11410"/>
                </a:cubicBezTo>
                <a:lnTo>
                  <a:pt x="12800" y="6489"/>
                </a:lnTo>
                <a:cubicBezTo>
                  <a:pt x="12800" y="5800"/>
                  <a:pt x="12239" y="5239"/>
                  <a:pt x="11550" y="5239"/>
                </a:cubicBezTo>
                <a:close/>
                <a:moveTo>
                  <a:pt x="3922" y="12109"/>
                </a:moveTo>
                <a:lnTo>
                  <a:pt x="1250" y="12109"/>
                </a:lnTo>
                <a:cubicBezTo>
                  <a:pt x="865" y="12109"/>
                  <a:pt x="551" y="11796"/>
                  <a:pt x="551" y="11410"/>
                </a:cubicBezTo>
                <a:lnTo>
                  <a:pt x="551" y="4540"/>
                </a:lnTo>
                <a:cubicBezTo>
                  <a:pt x="551" y="4154"/>
                  <a:pt x="864" y="3841"/>
                  <a:pt x="1250" y="3841"/>
                </a:cubicBezTo>
                <a:lnTo>
                  <a:pt x="3922" y="3841"/>
                </a:lnTo>
                <a:lnTo>
                  <a:pt x="3922" y="12109"/>
                </a:lnTo>
                <a:close/>
                <a:moveTo>
                  <a:pt x="8343" y="12109"/>
                </a:moveTo>
                <a:lnTo>
                  <a:pt x="4472" y="12109"/>
                </a:lnTo>
                <a:lnTo>
                  <a:pt x="4472" y="1250"/>
                </a:lnTo>
                <a:cubicBezTo>
                  <a:pt x="4472" y="864"/>
                  <a:pt x="4786" y="551"/>
                  <a:pt x="5171" y="551"/>
                </a:cubicBezTo>
                <a:lnTo>
                  <a:pt x="7643" y="551"/>
                </a:lnTo>
                <a:cubicBezTo>
                  <a:pt x="8029" y="551"/>
                  <a:pt x="8343" y="864"/>
                  <a:pt x="8343" y="1250"/>
                </a:cubicBezTo>
                <a:lnTo>
                  <a:pt x="8343" y="12109"/>
                </a:lnTo>
                <a:close/>
                <a:moveTo>
                  <a:pt x="12249" y="11410"/>
                </a:moveTo>
                <a:cubicBezTo>
                  <a:pt x="12249" y="11796"/>
                  <a:pt x="11935" y="12109"/>
                  <a:pt x="11550" y="12109"/>
                </a:cubicBezTo>
                <a:lnTo>
                  <a:pt x="8893" y="12109"/>
                </a:lnTo>
                <a:lnTo>
                  <a:pt x="8893" y="5790"/>
                </a:lnTo>
                <a:lnTo>
                  <a:pt x="11550" y="5790"/>
                </a:lnTo>
                <a:cubicBezTo>
                  <a:pt x="11935" y="5790"/>
                  <a:pt x="12249" y="6103"/>
                  <a:pt x="12249" y="6489"/>
                </a:cubicBezTo>
                <a:lnTo>
                  <a:pt x="12249" y="11410"/>
                </a:lnTo>
                <a:close/>
                <a:moveTo>
                  <a:pt x="6065" y="2628"/>
                </a:moveTo>
                <a:cubicBezTo>
                  <a:pt x="5901" y="2716"/>
                  <a:pt x="5749" y="2778"/>
                  <a:pt x="5611" y="2813"/>
                </a:cubicBezTo>
                <a:lnTo>
                  <a:pt x="5611" y="3324"/>
                </a:lnTo>
                <a:cubicBezTo>
                  <a:pt x="5899" y="3242"/>
                  <a:pt x="6138" y="3114"/>
                  <a:pt x="6330" y="2941"/>
                </a:cubicBezTo>
                <a:lnTo>
                  <a:pt x="6330" y="5465"/>
                </a:lnTo>
                <a:lnTo>
                  <a:pt x="6845" y="5465"/>
                </a:lnTo>
                <a:lnTo>
                  <a:pt x="6845" y="2320"/>
                </a:lnTo>
                <a:lnTo>
                  <a:pt x="6457" y="2320"/>
                </a:lnTo>
                <a:cubicBezTo>
                  <a:pt x="6352" y="2431"/>
                  <a:pt x="6221" y="2534"/>
                  <a:pt x="6065" y="2628"/>
                </a:cubicBezTo>
                <a:close/>
                <a:moveTo>
                  <a:pt x="1665" y="7319"/>
                </a:moveTo>
                <a:cubicBezTo>
                  <a:pt x="1674" y="7069"/>
                  <a:pt x="1726" y="6883"/>
                  <a:pt x="1823" y="6760"/>
                </a:cubicBezTo>
                <a:cubicBezTo>
                  <a:pt x="1920" y="6627"/>
                  <a:pt x="2066" y="6561"/>
                  <a:pt x="2259" y="6561"/>
                </a:cubicBezTo>
                <a:cubicBezTo>
                  <a:pt x="2441" y="6561"/>
                  <a:pt x="2578" y="6602"/>
                  <a:pt x="2669" y="6684"/>
                </a:cubicBezTo>
                <a:cubicBezTo>
                  <a:pt x="2760" y="6770"/>
                  <a:pt x="2806" y="6897"/>
                  <a:pt x="2806" y="7068"/>
                </a:cubicBezTo>
                <a:cubicBezTo>
                  <a:pt x="2806" y="7244"/>
                  <a:pt x="2737" y="7410"/>
                  <a:pt x="2599" y="7566"/>
                </a:cubicBezTo>
                <a:cubicBezTo>
                  <a:pt x="2502" y="7668"/>
                  <a:pt x="2358" y="7786"/>
                  <a:pt x="2167" y="7918"/>
                </a:cubicBezTo>
                <a:cubicBezTo>
                  <a:pt x="1800" y="8171"/>
                  <a:pt x="1559" y="8363"/>
                  <a:pt x="1444" y="8495"/>
                </a:cubicBezTo>
                <a:cubicBezTo>
                  <a:pt x="1236" y="8730"/>
                  <a:pt x="1132" y="9009"/>
                  <a:pt x="1132" y="9332"/>
                </a:cubicBezTo>
                <a:lnTo>
                  <a:pt x="3326" y="9332"/>
                </a:lnTo>
                <a:lnTo>
                  <a:pt x="3326" y="8879"/>
                </a:lnTo>
                <a:lnTo>
                  <a:pt x="1775" y="8879"/>
                </a:lnTo>
                <a:cubicBezTo>
                  <a:pt x="1845" y="8720"/>
                  <a:pt x="2041" y="8535"/>
                  <a:pt x="2361" y="8323"/>
                </a:cubicBezTo>
                <a:cubicBezTo>
                  <a:pt x="2681" y="8109"/>
                  <a:pt x="2899" y="7940"/>
                  <a:pt x="3013" y="7817"/>
                </a:cubicBezTo>
                <a:cubicBezTo>
                  <a:pt x="3219" y="7588"/>
                  <a:pt x="3321" y="7339"/>
                  <a:pt x="3321" y="7072"/>
                </a:cubicBezTo>
                <a:cubicBezTo>
                  <a:pt x="3321" y="6793"/>
                  <a:pt x="3224" y="6565"/>
                  <a:pt x="3031" y="6389"/>
                </a:cubicBezTo>
                <a:cubicBezTo>
                  <a:pt x="2834" y="6213"/>
                  <a:pt x="2583" y="6125"/>
                  <a:pt x="2277" y="6125"/>
                </a:cubicBezTo>
                <a:cubicBezTo>
                  <a:pt x="1939" y="6125"/>
                  <a:pt x="1666" y="6239"/>
                  <a:pt x="1458" y="6468"/>
                </a:cubicBezTo>
                <a:cubicBezTo>
                  <a:pt x="1258" y="6683"/>
                  <a:pt x="1155" y="6966"/>
                  <a:pt x="1149" y="7319"/>
                </a:cubicBezTo>
                <a:lnTo>
                  <a:pt x="1665" y="7319"/>
                </a:lnTo>
                <a:close/>
                <a:moveTo>
                  <a:pt x="11157" y="8782"/>
                </a:moveTo>
                <a:cubicBezTo>
                  <a:pt x="11506" y="8667"/>
                  <a:pt x="11681" y="8438"/>
                  <a:pt x="11681" y="8094"/>
                </a:cubicBezTo>
                <a:cubicBezTo>
                  <a:pt x="11681" y="7824"/>
                  <a:pt x="11585" y="7611"/>
                  <a:pt x="11395" y="7456"/>
                </a:cubicBezTo>
                <a:cubicBezTo>
                  <a:pt x="11204" y="7303"/>
                  <a:pt x="10947" y="7227"/>
                  <a:pt x="10624" y="7227"/>
                </a:cubicBezTo>
                <a:cubicBezTo>
                  <a:pt x="10309" y="7227"/>
                  <a:pt x="10055" y="7313"/>
                  <a:pt x="9861" y="7486"/>
                </a:cubicBezTo>
                <a:cubicBezTo>
                  <a:pt x="9653" y="7660"/>
                  <a:pt x="9535" y="7907"/>
                  <a:pt x="9509" y="8227"/>
                </a:cubicBezTo>
                <a:lnTo>
                  <a:pt x="10015" y="8227"/>
                </a:lnTo>
                <a:cubicBezTo>
                  <a:pt x="10033" y="8036"/>
                  <a:pt x="10095" y="7895"/>
                  <a:pt x="10200" y="7804"/>
                </a:cubicBezTo>
                <a:cubicBezTo>
                  <a:pt x="10301" y="7713"/>
                  <a:pt x="10443" y="7667"/>
                  <a:pt x="10628" y="7667"/>
                </a:cubicBezTo>
                <a:cubicBezTo>
                  <a:pt x="10810" y="7667"/>
                  <a:pt x="10947" y="7707"/>
                  <a:pt x="11038" y="7786"/>
                </a:cubicBezTo>
                <a:cubicBezTo>
                  <a:pt x="11123" y="7865"/>
                  <a:pt x="11165" y="7982"/>
                  <a:pt x="11165" y="8134"/>
                </a:cubicBezTo>
                <a:cubicBezTo>
                  <a:pt x="11165" y="8290"/>
                  <a:pt x="11119" y="8407"/>
                  <a:pt x="11025" y="8487"/>
                </a:cubicBezTo>
                <a:cubicBezTo>
                  <a:pt x="10928" y="8566"/>
                  <a:pt x="10787" y="8605"/>
                  <a:pt x="10602" y="8605"/>
                </a:cubicBezTo>
                <a:lnTo>
                  <a:pt x="10382" y="8605"/>
                </a:lnTo>
                <a:lnTo>
                  <a:pt x="10382" y="8993"/>
                </a:lnTo>
                <a:lnTo>
                  <a:pt x="10602" y="8993"/>
                </a:lnTo>
                <a:cubicBezTo>
                  <a:pt x="10807" y="8993"/>
                  <a:pt x="10962" y="9036"/>
                  <a:pt x="11064" y="9121"/>
                </a:cubicBezTo>
                <a:cubicBezTo>
                  <a:pt x="11173" y="9206"/>
                  <a:pt x="11228" y="9339"/>
                  <a:pt x="11228" y="9517"/>
                </a:cubicBezTo>
                <a:cubicBezTo>
                  <a:pt x="11228" y="9664"/>
                  <a:pt x="11176" y="9789"/>
                  <a:pt x="11073" y="9892"/>
                </a:cubicBezTo>
                <a:cubicBezTo>
                  <a:pt x="10956" y="10004"/>
                  <a:pt x="10799" y="10059"/>
                  <a:pt x="10602" y="10059"/>
                </a:cubicBezTo>
                <a:cubicBezTo>
                  <a:pt x="10423" y="10059"/>
                  <a:pt x="10277" y="10008"/>
                  <a:pt x="10166" y="9905"/>
                </a:cubicBezTo>
                <a:cubicBezTo>
                  <a:pt x="10045" y="9797"/>
                  <a:pt x="9981" y="9639"/>
                  <a:pt x="9972" y="9433"/>
                </a:cubicBezTo>
                <a:lnTo>
                  <a:pt x="9448" y="9433"/>
                </a:lnTo>
                <a:cubicBezTo>
                  <a:pt x="9475" y="9789"/>
                  <a:pt x="9597" y="10059"/>
                  <a:pt x="9818" y="10244"/>
                </a:cubicBezTo>
                <a:cubicBezTo>
                  <a:pt x="10018" y="10412"/>
                  <a:pt x="10281" y="10495"/>
                  <a:pt x="10606" y="10495"/>
                </a:cubicBezTo>
                <a:cubicBezTo>
                  <a:pt x="10947" y="10495"/>
                  <a:pt x="11224" y="10400"/>
                  <a:pt x="11439" y="10209"/>
                </a:cubicBezTo>
                <a:cubicBezTo>
                  <a:pt x="11642" y="10024"/>
                  <a:pt x="11743" y="9787"/>
                  <a:pt x="11743" y="9495"/>
                </a:cubicBezTo>
                <a:cubicBezTo>
                  <a:pt x="11743" y="9307"/>
                  <a:pt x="11690" y="9155"/>
                  <a:pt x="11585" y="9037"/>
                </a:cubicBezTo>
                <a:cubicBezTo>
                  <a:pt x="11491" y="8925"/>
                  <a:pt x="11348" y="8840"/>
                  <a:pt x="11157" y="8782"/>
                </a:cubicBez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1703705" y="5267325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降低工业传感节点运维成本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1703664" y="5560203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节点常超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1000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个，续航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3-6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个月，年换电池成本超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万。本研究延长续航至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个月以上，降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以上运维成本。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aphicFrame>
        <p:nvGraphicFramePr>
          <p:cNvPr id="64" name="图表 63"/>
          <p:cNvGraphicFramePr/>
          <p:nvPr/>
        </p:nvGraphicFramePr>
        <p:xfrm>
          <a:off x="6612398" y="4156530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图表 64"/>
          <p:cNvGraphicFramePr/>
          <p:nvPr/>
        </p:nvGraphicFramePr>
        <p:xfrm>
          <a:off x="9231270" y="4095522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文本框 375"/>
          <p:cNvSpPr txBox="1"/>
          <p:nvPr/>
        </p:nvSpPr>
        <p:spPr>
          <a:xfrm>
            <a:off x="7000788" y="4802981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15%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121525" y="5252720"/>
            <a:ext cx="120904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79" name="文本框 375"/>
          <p:cNvSpPr txBox="1"/>
          <p:nvPr/>
        </p:nvSpPr>
        <p:spPr>
          <a:xfrm>
            <a:off x="9677987" y="4757047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20%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80" name="TextBox 12"/>
          <p:cNvSpPr txBox="1"/>
          <p:nvPr/>
        </p:nvSpPr>
        <p:spPr>
          <a:xfrm>
            <a:off x="9810750" y="5206365"/>
            <a:ext cx="11531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面向真实用户的前端交互设计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统一视觉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GlassCard毛玻璃卡片、状态徽章、统一按钮体系、浅色渐变背景与Aurora动态流体场，暗色模式自动适配。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完整交互闭环覆盖工作台、通知、历史、资源预约、审批详情、系统监控等所有页面，前端可独立运行验证。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角色化导航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学生、部门、财务、学校、信息管理员五类角色入口差异化，侧边栏智能分区，收藏夹与通知角标持久化。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/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AI状态感知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背景流体场在AI调用时聚合加速，AI面板入场级联动画，推荐按钮按风险等级高亮，加载状态全程可见。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前端设计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完整闭环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工程化、安全与可运维设计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安全机制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JWT双令牌 + bcrypt密码哈希 + Fernet密钥加密 + MIME魔数文件校验 + 软删除数据保护 + 全链路审计日志。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稳定机制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API Key池轮询、失败计数自动禁用、云端→本地→规则三层降级，确保单点故障不影响核心审批流程。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性能优化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图片OCR前EXIF修正+压缩、PDF文本直提、Redis缓存与限流、服务端分页、TF-IDF矩阵磁盘缓存。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运维监控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系统监控三面板（概览/日志/错误）、健康检查聚合、结构化日志、OCR工具链追踪、一键启停脚本。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智能仓储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AGV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路径规划的实时避障优化研究意义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+mn-ea"/>
                  <a:sym typeface="+mn-lt"/>
                </a:rPr>
                <a:t>研究意义</a:t>
              </a:r>
              <a:endParaRPr lang="zh-CN" altLang="en-US" sz="20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智能仓储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路径规划的实时避障优化研究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降低仓储运维成本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避障失败导致的碰撞故障，单台年度维修成本超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5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万元，本研究能将避障故障率降低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60%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以上，单仓储中心年均节省运维费用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30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万元以上。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拓展技术应用场景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研究成果可迁移至车间物料搬运、港口无人集卡等场景，解决同类移动机器人的实时避障难题，提升技术的通用性与落地价值。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提升</a:t>
              </a:r>
              <a:r>
                <a:rPr lang="en-US" altLang="zh-CN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AGV</a:t>
              </a: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运行效率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cs typeface="+mn-ea"/>
                  <a:sym typeface="+mn-lt"/>
                </a:rPr>
                <a:t>遇障碍调路径时间超</a:t>
              </a:r>
              <a:r>
                <a:rPr lang="en-US" altLang="zh-CN" sz="1400" dirty="0">
                  <a:cs typeface="+mn-ea"/>
                  <a:sym typeface="+mn-lt"/>
                </a:rPr>
                <a:t> 8 </a:t>
              </a:r>
              <a:r>
                <a:rPr lang="zh-CN" altLang="en-US" sz="1400" dirty="0">
                  <a:cs typeface="+mn-ea"/>
                  <a:sym typeface="+mn-lt"/>
                </a:rPr>
                <a:t>秒，本研究可缩至</a:t>
              </a:r>
              <a:r>
                <a:rPr lang="en-US" altLang="zh-CN" sz="1400" dirty="0">
                  <a:cs typeface="+mn-ea"/>
                  <a:sym typeface="+mn-lt"/>
                </a:rPr>
                <a:t> 3 </a:t>
              </a:r>
              <a:r>
                <a:rPr lang="zh-CN" altLang="en-US" sz="1400" dirty="0">
                  <a:cs typeface="+mn-ea"/>
                  <a:sym typeface="+mn-lt"/>
                </a:rPr>
                <a:t>秒内，搬运次数提升超</a:t>
              </a:r>
              <a:r>
                <a:rPr lang="en-US" altLang="zh-CN" sz="1400" dirty="0">
                  <a:cs typeface="+mn-ea"/>
                  <a:sym typeface="+mn-lt"/>
                </a:rPr>
                <a:t> 25%</a:t>
              </a:r>
              <a:r>
                <a:rPr lang="zh-CN" altLang="en-US" sz="1400" dirty="0">
                  <a:cs typeface="+mn-ea"/>
                  <a:sym typeface="+mn-lt"/>
                </a:rPr>
                <a:t>，提高仓储效率。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提高空间利用率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传统</a:t>
              </a:r>
              <a:r>
                <a:rPr lang="en-US" altLang="zh-CN" sz="1400" dirty="0">
                  <a:cs typeface="+mn-ea"/>
                  <a:sym typeface="+mn-lt"/>
                </a:rPr>
                <a:t>AGV</a:t>
              </a:r>
              <a:r>
                <a:rPr lang="zh-CN" altLang="en-US" sz="1400" dirty="0">
                  <a:cs typeface="+mn-ea"/>
                  <a:sym typeface="+mn-lt"/>
                </a:rPr>
                <a:t>通道超</a:t>
              </a:r>
              <a:r>
                <a:rPr lang="en-US" altLang="zh-CN" sz="1400" dirty="0">
                  <a:cs typeface="+mn-ea"/>
                  <a:sym typeface="+mn-lt"/>
                </a:rPr>
                <a:t>2</a:t>
              </a:r>
              <a:r>
                <a:rPr lang="zh-CN" altLang="en-US" sz="1400" dirty="0">
                  <a:cs typeface="+mn-ea"/>
                  <a:sym typeface="+mn-lt"/>
                </a:rPr>
                <a:t>米宽，本研究优化至</a:t>
              </a:r>
              <a:r>
                <a:rPr lang="en-US" altLang="zh-CN" sz="1400" dirty="0">
                  <a:cs typeface="+mn-ea"/>
                  <a:sym typeface="+mn-lt"/>
                </a:rPr>
                <a:t>1.2</a:t>
              </a:r>
              <a:r>
                <a:rPr lang="zh-CN" altLang="en-US" sz="1400" dirty="0">
                  <a:cs typeface="+mn-ea"/>
                  <a:sym typeface="+mn-lt"/>
                </a:rPr>
                <a:t>米，单仓储区域存储位增</a:t>
              </a:r>
              <a:r>
                <a:rPr lang="en-US" altLang="zh-CN" sz="1400" dirty="0">
                  <a:cs typeface="+mn-ea"/>
                  <a:sym typeface="+mn-lt"/>
                </a:rPr>
                <a:t>15%-20%</a:t>
              </a:r>
              <a:r>
                <a:rPr lang="zh-CN" altLang="en-US" sz="1400" dirty="0">
                  <a:cs typeface="+mn-ea"/>
                  <a:sym typeface="+mn-lt"/>
                </a:rPr>
                <a:t>，缓解仓储空间紧张。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03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研究现状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STATUS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端到端运行效果与Demo路线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c</a:t>
            </a:r>
            <a:endParaRPr kumimoji="0" lang="en-US" altLang="zh-CN" sz="164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智能填表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学生输入自然语言→AI识别事项→预填12个字段→合规自查展示风险等级与4条政策引用。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AI辅助审批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审批详情自动合规分析，推荐按钮按风险高亮，审批意见模板一键填入。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系统可观测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监控面板实时展示服务健康、日志分级筛选、错误聚合与OCR调用链追踪。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AI分层路由：按任务特性选择模型能力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本地Qwen3-14B + RAG做政策问答和风险分析，数据不出服务器，保障隐私与离线可用。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本地合规分析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处理明天/后天、地点、交通、公假等高频表达，云端不可用时保证基本预填能力不中断。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规则兜底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云端LLM负责自然语言表单预填与复杂多模态OCR，利用大模型语义理解优势处理非结构化输入。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云端语义抽取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MLX LoRA训练→融合→GGUF转换一体化，PEFT管线保留为跨平台备选，模型可按学校数据持续优化。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训练管线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04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研究方法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METHOD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RAG政策检索：让AI建议具有政策依据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知识库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内置2025版校园政策JSON知识库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检索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TF-IDF字符级n-gram匹配相关条文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分析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LLM生成风险等级、逐项检查与建议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场景</a:t>
                </a:r>
                <a:r>
                  <a:rPr lang="en-US" altLang="zh-CN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学生提交前自查 + 审批人决策辅助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多角色多阶段流程建模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角色体系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学生、部门管理员、财务管理员、学校管理员、信息管理员五类角色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阶段流转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部门审批→财务审批→学校审批按事务规则流转，支持金额阈值自动跳过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跨校边界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用户带school字段，学校管理员限制本校范围，支持Pro/Free服务等级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协同机制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撤回重提、催办、通知跳转、审批代理委托与历史追踪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模板引擎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19类审批模板Schema，JSON驱动，支持按学校定制字段与流程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65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研究方法</a:t>
              </a:r>
              <a:endParaRPr kumimoji="0" lang="zh-CN" alt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现场观察法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定期随访法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半结构化访谈法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个性化指导法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专题培训法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rPr>
              <a:t>问卷调查法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创新点与应用价值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五大创新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HITL协同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分层AI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可解释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玻璃拟态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工程闭环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提升填表效率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流程创新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/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降低审核成本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增强可解释性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可跨校迁移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隐私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AI流程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云端+本地分层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政策依据可追溯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应用价值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/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